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8" d="100"/>
          <a:sy n="58" d="100"/>
        </p:scale>
        <p:origin x="-360" y="1020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E42A5-67D3-4C32-BC8E-CA2152D6A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15686B-7438-4B2F-BFFC-6926B34A3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B8F65E-E794-4CD1-BA17-8EEA1BEA7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F79EFB-CBCA-4BE9-B038-5F7C84F18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0E25B6-5320-439D-B5F6-B013F6CE1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81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FF69D8-CAFC-43DE-BA59-B9AA6EC4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2A7C76-1CBF-42FA-A898-D63565822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97CB09-13B3-4529-A206-AC4295B5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D521D9-E8CE-4B0E-AF2A-E8F7851D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638CA9-25F0-4F1F-959E-7FB39F75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76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47091-7C40-4B47-88D7-88D4C2C29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83AF37-B017-43C0-9A82-61C2A6A19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710E9D-9C35-44E6-9845-61655ECF6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FBC9-3EF6-4C70-BD92-D1008E490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D5454E-E52E-4FCA-A096-E95593EA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77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48768-AE3A-40A1-9AEA-96598A62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0255AC-4B70-4C02-A9E6-017A95CBA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F2A258-BFD7-42C1-9D61-BA3D00CCC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64DE-4D7F-48E5-94CA-23252B1E9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CBCB4B-08AC-45AF-A618-8CA4F381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29CD80-67FF-46F7-849A-D847BBAB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66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5C293-5051-4935-B8A7-054B543F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763D59-CD2A-41A9-B727-54F8157C6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051073-5A1F-45D6-A063-4753A6739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D60873E-725E-4FB6-B93B-6A5C0749F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CC2562E-7795-4EBF-9CDA-4A8CDB1F40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DC17566-295E-4EBC-BCEA-052360059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D98ACF-4A0C-46F4-BE28-5620E001B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D00F80D-A7A9-4D99-ADB1-1A9D5C3C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698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65BFF-F106-420A-87BA-CC587414D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C6845FC-7402-4044-85AF-49C2865E9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6C5CD5-5F83-47AF-8FE0-D641E8F7C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1684F1A-8D5A-451E-A15A-4A28B3124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027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3075612-4188-423C-833C-EC2940450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4516D95-221F-4A91-BE34-D2D747EFB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6E8640-E3D8-488D-ACD0-63E3B30E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860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F97737-AB4F-4D47-AA82-E826D217D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C5EFDF-F96F-4A54-AC26-42FEC9A94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B1207D-2487-40B2-8F0E-634433C4C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16752B-A3CF-4670-908A-D6CD1732F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89699C-F4FF-4418-BCBC-4C62438F1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4EE4F6-606E-4A49-8603-BDA0D5C7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422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94F94-07B4-4A28-9CF3-BD6308995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F525761-2D7B-4BA0-8AC4-9EC19201A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172956-4379-4C84-AFB7-2B213943B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99F740-D6D9-4311-822F-0078B3A99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E12482-7276-445F-AD22-4A8B5091C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8A375-5FA3-4F45-8E7F-110E8380C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689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5AC5A-706C-43AD-95D9-C7675D722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FBE52D-0994-4E7A-A174-50B0CA206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2DA141-F84B-410B-BD7C-349F0351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5EACA6-7A25-41C5-A0E2-8376DF4E8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CE9F72-36FB-4FC8-8DF3-65A37E12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55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1BF2232-7933-4151-8BF6-53A5A2A34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3BF51A5-2CC4-46D2-966F-9A3AF2FBE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61D2BD-3316-4797-B277-F730EA2D4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E34ADA-06AB-4B20-BAEF-51F63019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4AFDC5-EFD7-44C3-85EF-2C1B69F34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125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B1EA1-A57F-4B89-A7A5-366B69BD4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3E8AA9-B148-46AD-8EE3-B08B25B9F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12FC76-6012-4411-878A-358968ACFA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0573F6-8649-4F98-83FB-3563B4F83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3C6F28-1B9B-4A11-AF0D-D5A0B539E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41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30ACEAE8-321A-41B7-9959-37E68CB07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754880" cy="7132321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19C8C370-09C2-4698-91AC-F90830E7F0B3}"/>
              </a:ext>
            </a:extLst>
          </p:cNvPr>
          <p:cNvSpPr/>
          <p:nvPr/>
        </p:nvSpPr>
        <p:spPr>
          <a:xfrm>
            <a:off x="5417958" y="378986"/>
            <a:ext cx="6859766" cy="1745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Интеллектуальный чат-бот поддержки клиентов с использованием LLM</a:t>
            </a:r>
            <a:endParaRPr lang="en-US" sz="40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29D3C804-6704-42D4-BA90-6256B258A0A1}"/>
              </a:ext>
            </a:extLst>
          </p:cNvPr>
          <p:cNvSpPr/>
          <p:nvPr/>
        </p:nvSpPr>
        <p:spPr>
          <a:xfrm>
            <a:off x="5417958" y="2623552"/>
            <a:ext cx="6859766" cy="1697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Целью данного проекта является разработка интеллектуального чат-бота, способного вести осмысленную и адаптивную коммуникацию с клиентом в рамках системы поддержки. Основным отличием предлагаемой системы является использование Language Learning Models (LLM) для глубокой обработки естественного языка, распознавания эмоций, намерений и генерации релевантных действий и сводок.</a:t>
            </a:r>
            <a:endParaRPr lang="en-US" sz="155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391C2FA5-B089-4277-A33B-B041F1EFD935}"/>
              </a:ext>
            </a:extLst>
          </p:cNvPr>
          <p:cNvSpPr/>
          <p:nvPr/>
        </p:nvSpPr>
        <p:spPr>
          <a:xfrm>
            <a:off x="5417958" y="4740126"/>
            <a:ext cx="6859766" cy="1697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Современные клиенты ожидают быстрых, точных и персонализированных ответов. Однако большинство традиционных чат-ботов строится на жёстко заданных правилах и не обладают достаточной гибкостью для сложных диалогов. Мы решили данную проблему путём разработки архитектуры, включающей несколько LLM-агентов с чётким распределением функций, а также полной интеграции с web-интерфейсом и CRM-системами.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938879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90ED2A6-8B73-48B6-B575-79CE51914178}"/>
              </a:ext>
            </a:extLst>
          </p:cNvPr>
          <p:cNvSpPr/>
          <p:nvPr/>
        </p:nvSpPr>
        <p:spPr>
          <a:xfrm>
            <a:off x="4228622" y="1"/>
            <a:ext cx="7963377" cy="675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Проблематика традиционных чат-ботов</a:t>
            </a:r>
            <a:endParaRPr lang="en-US" sz="345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03042919-6366-41FF-842B-CE6C1081B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178" y="1575495"/>
            <a:ext cx="266224" cy="33278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02BA9D87-6ECF-4514-8319-A8C336C78666}"/>
              </a:ext>
            </a:extLst>
          </p:cNvPr>
          <p:cNvSpPr/>
          <p:nvPr/>
        </p:nvSpPr>
        <p:spPr>
          <a:xfrm>
            <a:off x="4776668" y="1552218"/>
            <a:ext cx="3103007" cy="168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Эмоциональное восприятие</a:t>
            </a:r>
            <a:endParaRPr lang="en-US" sz="17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D9C986C-3ADB-4DCA-8216-61E853D09B01}"/>
              </a:ext>
            </a:extLst>
          </p:cNvPr>
          <p:cNvSpPr/>
          <p:nvPr/>
        </p:nvSpPr>
        <p:spPr>
          <a:xfrm>
            <a:off x="4776667" y="1930718"/>
            <a:ext cx="7415333" cy="32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Неспособность распознать эмоциональное состояние пользователя, что приводит к формальным ответам без анализа настроения.</a:t>
            </a:r>
            <a:endParaRPr lang="en-US" sz="130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485901BF-3F45-4616-8E86-A48BD71A6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178" y="2852083"/>
            <a:ext cx="266224" cy="33278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2B4DE9A2-0DB2-491D-9DFF-DD7747BEE926}"/>
              </a:ext>
            </a:extLst>
          </p:cNvPr>
          <p:cNvSpPr/>
          <p:nvPr/>
        </p:nvSpPr>
        <p:spPr>
          <a:xfrm>
            <a:off x="4776668" y="2828806"/>
            <a:ext cx="2995136" cy="168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Интерпретация намерений</a:t>
            </a:r>
            <a:endParaRPr lang="en-US" sz="17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74A0E92-BB96-4B53-83F5-5C44DCBD3420}"/>
              </a:ext>
            </a:extLst>
          </p:cNvPr>
          <p:cNvSpPr/>
          <p:nvPr/>
        </p:nvSpPr>
        <p:spPr>
          <a:xfrm>
            <a:off x="4776667" y="3207306"/>
            <a:ext cx="7415333" cy="32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Отсутствие гибкой интерпретации пользовательского намерения, что затрудняет понимание истинной цели обращения.</a:t>
            </a:r>
            <a:endParaRPr lang="en-US" sz="1300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F15A2DA5-895E-43D5-A6B0-19B522677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178" y="4128671"/>
            <a:ext cx="266224" cy="33278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D057E4F1-9067-449A-BB07-88B2AE9432D7}"/>
              </a:ext>
            </a:extLst>
          </p:cNvPr>
          <p:cNvSpPr/>
          <p:nvPr/>
        </p:nvSpPr>
        <p:spPr>
          <a:xfrm>
            <a:off x="4776668" y="4105394"/>
            <a:ext cx="3043714" cy="168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Контекстуальная адаптация</a:t>
            </a:r>
            <a:endParaRPr lang="en-US" sz="170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6962D224-03B1-4CC9-9036-B2267C573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5178" y="5405259"/>
            <a:ext cx="266224" cy="332780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48F0E3FE-04C6-4D38-8341-6A3FC7779E9C}"/>
              </a:ext>
            </a:extLst>
          </p:cNvPr>
          <p:cNvSpPr/>
          <p:nvPr/>
        </p:nvSpPr>
        <p:spPr>
          <a:xfrm>
            <a:off x="4776668" y="5381982"/>
            <a:ext cx="2524125" cy="168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Сложность интеграции</a:t>
            </a:r>
            <a:endParaRPr lang="en-US" sz="17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3A35E1F-B8CB-4ABB-97E5-9D08ED5E7CE4}"/>
              </a:ext>
            </a:extLst>
          </p:cNvPr>
          <p:cNvSpPr/>
          <p:nvPr/>
        </p:nvSpPr>
        <p:spPr>
          <a:xfrm>
            <a:off x="4776667" y="5760482"/>
            <a:ext cx="7415333" cy="32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Трудности при внедрении в существующие CRM и веб-приложения, что ограничивает функциональность.</a:t>
            </a:r>
            <a:endParaRPr lang="en-US" sz="13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2E6A86B-5ADB-44A6-ADF3-BA4654241275}"/>
              </a:ext>
            </a:extLst>
          </p:cNvPr>
          <p:cNvSpPr/>
          <p:nvPr/>
        </p:nvSpPr>
        <p:spPr>
          <a:xfrm>
            <a:off x="4228622" y="6489978"/>
            <a:ext cx="7963377" cy="49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Эти ограничения приводят к снижению уровня удовлетворённости клиентов и росту нагрузки на операторов, что делает необходимым поиск более совершенных решений для автоматизации поддержки.</a:t>
            </a:r>
            <a:endParaRPr lang="en-US" sz="13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4C81842-EF49-4251-847E-59127040DA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393" y="2618903"/>
            <a:ext cx="5450761" cy="565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9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C6F2613-63BC-42BC-A2FB-F1D24E2B0F74}"/>
              </a:ext>
            </a:extLst>
          </p:cNvPr>
          <p:cNvSpPr/>
          <p:nvPr/>
        </p:nvSpPr>
        <p:spPr>
          <a:xfrm>
            <a:off x="656046" y="173279"/>
            <a:ext cx="5993130" cy="663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Задачи и цели проекта</a:t>
            </a:r>
            <a:endParaRPr lang="en-US" sz="41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E710D40-8922-49AC-9C73-1B484AF6A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46" y="1240198"/>
            <a:ext cx="1008578" cy="121027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8D72F678-E323-4F33-9411-240B41DD42F5}"/>
              </a:ext>
            </a:extLst>
          </p:cNvPr>
          <p:cNvSpPr/>
          <p:nvPr/>
        </p:nvSpPr>
        <p:spPr>
          <a:xfrm>
            <a:off x="1967162" y="1441890"/>
            <a:ext cx="3318034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Определение намерений</a:t>
            </a:r>
            <a:endParaRPr lang="en-US" sz="20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1D6CDD6-0B07-4DD4-A7F3-7C642DE9E6F8}"/>
              </a:ext>
            </a:extLst>
          </p:cNvPr>
          <p:cNvSpPr/>
          <p:nvPr/>
        </p:nvSpPr>
        <p:spPr>
          <a:xfrm>
            <a:off x="1967162" y="1894565"/>
            <a:ext cx="11907441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Точное распознавание интентов (намерений) пользователя для правильного направления диалога.</a:t>
            </a:r>
            <a:endParaRPr lang="en-US" sz="15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00227961-2C29-4AEA-8823-585BF07F7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46" y="2450468"/>
            <a:ext cx="1008578" cy="1210270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54B35132-EB5B-4DCF-B53D-CF1203140DFA}"/>
              </a:ext>
            </a:extLst>
          </p:cNvPr>
          <p:cNvSpPr/>
          <p:nvPr/>
        </p:nvSpPr>
        <p:spPr>
          <a:xfrm>
            <a:off x="1967162" y="2652160"/>
            <a:ext cx="3163848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Эмоциональный анализ</a:t>
            </a:r>
            <a:endParaRPr lang="en-US" sz="20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CCA1042-F658-4C2B-B5E0-19A28EE948DC}"/>
              </a:ext>
            </a:extLst>
          </p:cNvPr>
          <p:cNvSpPr/>
          <p:nvPr/>
        </p:nvSpPr>
        <p:spPr>
          <a:xfrm>
            <a:off x="1967162" y="3104836"/>
            <a:ext cx="11907441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Распознавание эмоционального состояния на основе текста сообщений для адаптации тона ответа.</a:t>
            </a:r>
            <a:endParaRPr lang="en-US" sz="15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C764F3A1-089F-435B-A5AB-351133938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46" y="3660738"/>
            <a:ext cx="1008578" cy="1210270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0B150AB9-E673-4E22-B978-9FD314767ADC}"/>
              </a:ext>
            </a:extLst>
          </p:cNvPr>
          <p:cNvSpPr/>
          <p:nvPr/>
        </p:nvSpPr>
        <p:spPr>
          <a:xfrm>
            <a:off x="1967162" y="3862430"/>
            <a:ext cx="3390662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Генерация рекомендаций</a:t>
            </a:r>
            <a:endParaRPr lang="en-US" sz="205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BD999A15-D6A7-4E04-BAF1-6B6FA577CE88}"/>
              </a:ext>
            </a:extLst>
          </p:cNvPr>
          <p:cNvSpPr/>
          <p:nvPr/>
        </p:nvSpPr>
        <p:spPr>
          <a:xfrm>
            <a:off x="1967162" y="4315106"/>
            <a:ext cx="11907441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Формирование контекстуальных рекомендаций для оператора по дальнейшим действиям.</a:t>
            </a:r>
            <a:endParaRPr lang="en-US" sz="1550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CD9C7BEE-4FAD-4B77-A74E-B0D0F5323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46" y="4871009"/>
            <a:ext cx="1008578" cy="1210270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AFDF992E-FD16-4F37-A915-C8106C146333}"/>
              </a:ext>
            </a:extLst>
          </p:cNvPr>
          <p:cNvSpPr/>
          <p:nvPr/>
        </p:nvSpPr>
        <p:spPr>
          <a:xfrm>
            <a:off x="1967162" y="5072701"/>
            <a:ext cx="265414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Создание сводок</a:t>
            </a:r>
            <a:endParaRPr lang="en-US" sz="205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EE3C2070-D75A-4B12-83D5-56F7DDECF9BD}"/>
              </a:ext>
            </a:extLst>
          </p:cNvPr>
          <p:cNvSpPr/>
          <p:nvPr/>
        </p:nvSpPr>
        <p:spPr>
          <a:xfrm>
            <a:off x="1967162" y="5525376"/>
            <a:ext cx="11907441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Формирование сводок диалога для CRM и аналитики эффективности взаимодействия.</a:t>
            </a:r>
            <a:endParaRPr lang="en-US" sz="1550" dirty="0"/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3FE9C6AF-7BEC-4FB2-AAF7-E10B24F7E1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46" y="6081279"/>
            <a:ext cx="1008578" cy="1210270"/>
          </a:xfrm>
          <a:prstGeom prst="rect">
            <a:avLst/>
          </a:prstGeom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2233A1CC-4CE5-432E-8789-91DFFC0D399C}"/>
              </a:ext>
            </a:extLst>
          </p:cNvPr>
          <p:cNvSpPr/>
          <p:nvPr/>
        </p:nvSpPr>
        <p:spPr>
          <a:xfrm>
            <a:off x="1967162" y="6282971"/>
            <a:ext cx="3222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Интеграция с системами</a:t>
            </a:r>
            <a:endParaRPr lang="en-US" sz="205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349E6E8F-5C10-4611-856E-E2367C4EE118}"/>
              </a:ext>
            </a:extLst>
          </p:cNvPr>
          <p:cNvSpPr/>
          <p:nvPr/>
        </p:nvSpPr>
        <p:spPr>
          <a:xfrm>
            <a:off x="1967162" y="6735647"/>
            <a:ext cx="11907441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Полноценное встраивание в веб-приложение и внешние сервисы компании.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3500827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131FEFA2-BED6-4270-B7C1-8B0C19079463}"/>
              </a:ext>
            </a:extLst>
          </p:cNvPr>
          <p:cNvSpPr/>
          <p:nvPr/>
        </p:nvSpPr>
        <p:spPr>
          <a:xfrm>
            <a:off x="678656" y="533400"/>
            <a:ext cx="6514148" cy="637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Общая структура системы</a:t>
            </a:r>
            <a:endParaRPr lang="en-US" sz="40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7391E3FB-395A-46B5-B520-4B507FEA8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635" y="1559004"/>
            <a:ext cx="1642467" cy="1133118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58F60C79-8805-4433-A368-BBAB806D6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483" y="2095976"/>
            <a:ext cx="272653" cy="340876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36957D83-5BBD-45C4-AE20-57669E7A5AD1}"/>
              </a:ext>
            </a:extLst>
          </p:cNvPr>
          <p:cNvSpPr/>
          <p:nvPr/>
        </p:nvSpPr>
        <p:spPr>
          <a:xfrm>
            <a:off x="5011936" y="1752838"/>
            <a:ext cx="255150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LLM-модель</a:t>
            </a:r>
            <a:endParaRPr lang="en-US" sz="20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EEFBDF63-109F-47EA-930F-FDB90F9AC847}"/>
              </a:ext>
            </a:extLst>
          </p:cNvPr>
          <p:cNvSpPr/>
          <p:nvPr/>
        </p:nvSpPr>
        <p:spPr>
          <a:xfrm>
            <a:off x="5011936" y="2188012"/>
            <a:ext cx="49681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Ядро системы на базе GPT/Claude/Open-source LLM</a:t>
            </a:r>
            <a:endParaRPr lang="en-US" sz="15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AED72032-EA64-427C-8C41-F1011590A7DD}"/>
              </a:ext>
            </a:extLst>
          </p:cNvPr>
          <p:cNvSpPr/>
          <p:nvPr/>
        </p:nvSpPr>
        <p:spPr>
          <a:xfrm>
            <a:off x="4866561" y="2706767"/>
            <a:ext cx="9036725" cy="11430"/>
          </a:xfrm>
          <a:prstGeom prst="roundRect">
            <a:avLst>
              <a:gd name="adj" fmla="val 712577"/>
            </a:avLst>
          </a:prstGeom>
          <a:solidFill>
            <a:srgbClr val="BBC2DC"/>
          </a:solidFill>
          <a:ln/>
        </p:spPr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9A3C0830-0F63-4E63-8D50-30771BCA8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342" y="2740581"/>
            <a:ext cx="3285053" cy="1133118"/>
          </a:xfrm>
          <a:prstGeom prst="rect">
            <a:avLst/>
          </a:prstGeom>
        </p:spPr>
      </p:pic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6F73A49E-F417-4D2E-AA94-6EEF58655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483" y="3136702"/>
            <a:ext cx="272653" cy="340876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41B52E64-7B09-481B-AB70-D6C290B2F310}"/>
              </a:ext>
            </a:extLst>
          </p:cNvPr>
          <p:cNvSpPr/>
          <p:nvPr/>
        </p:nvSpPr>
        <p:spPr>
          <a:xfrm>
            <a:off x="5833229" y="2934414"/>
            <a:ext cx="300061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Модульная архитектура</a:t>
            </a:r>
            <a:endParaRPr lang="en-US" sz="20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19C8ACE-8161-4DCC-8E20-64C53C3AD051}"/>
              </a:ext>
            </a:extLst>
          </p:cNvPr>
          <p:cNvSpPr/>
          <p:nvPr/>
        </p:nvSpPr>
        <p:spPr>
          <a:xfrm>
            <a:off x="5833229" y="3369588"/>
            <a:ext cx="433113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Специализированные агенты для разных задач</a:t>
            </a:r>
            <a:endParaRPr lang="en-US" sz="15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C0DE3695-C6D1-4D59-89E9-5E5026CF221F}"/>
              </a:ext>
            </a:extLst>
          </p:cNvPr>
          <p:cNvSpPr/>
          <p:nvPr/>
        </p:nvSpPr>
        <p:spPr>
          <a:xfrm>
            <a:off x="5687854" y="3888343"/>
            <a:ext cx="8215432" cy="11430"/>
          </a:xfrm>
          <a:prstGeom prst="roundRect">
            <a:avLst>
              <a:gd name="adj" fmla="val 712577"/>
            </a:avLst>
          </a:prstGeom>
          <a:solidFill>
            <a:srgbClr val="BBC2DC"/>
          </a:solidFill>
          <a:ln/>
        </p:spPr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E38051E1-FFDB-4D79-8C49-80957A7A5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3049" y="3922157"/>
            <a:ext cx="4927521" cy="1133118"/>
          </a:xfrm>
          <a:prstGeom prst="rect">
            <a:avLst/>
          </a:prstGeom>
        </p:spPr>
      </p:pic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1793F8BE-9B0A-43AB-A37B-919C45F8B3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0363" y="4318278"/>
            <a:ext cx="272653" cy="340876"/>
          </a:xfrm>
          <a:prstGeom prst="rect">
            <a:avLst/>
          </a:prstGeom>
        </p:spPr>
      </p:pic>
      <p:sp>
        <p:nvSpPr>
          <p:cNvPr id="19" name="Text 7">
            <a:extLst>
              <a:ext uri="{FF2B5EF4-FFF2-40B4-BE49-F238E27FC236}">
                <a16:creationId xmlns:a16="http://schemas.microsoft.com/office/drawing/2014/main" id="{988C2CA4-2212-4CD3-9E8A-DE2179E4FA69}"/>
              </a:ext>
            </a:extLst>
          </p:cNvPr>
          <p:cNvSpPr/>
          <p:nvPr/>
        </p:nvSpPr>
        <p:spPr>
          <a:xfrm>
            <a:off x="6654403" y="4115991"/>
            <a:ext cx="286452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LangChain фреймворк</a:t>
            </a:r>
            <a:endParaRPr lang="en-US" sz="20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0A11CA8D-F77F-4C20-B128-49C3A7710C9F}"/>
              </a:ext>
            </a:extLst>
          </p:cNvPr>
          <p:cNvSpPr/>
          <p:nvPr/>
        </p:nvSpPr>
        <p:spPr>
          <a:xfrm>
            <a:off x="6654403" y="4551164"/>
            <a:ext cx="486275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Управление взаимодействием между LLM и данными</a:t>
            </a:r>
            <a:endParaRPr lang="en-US" sz="15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9E50D112-91FF-445A-800F-4359279F2FE3}"/>
              </a:ext>
            </a:extLst>
          </p:cNvPr>
          <p:cNvSpPr/>
          <p:nvPr/>
        </p:nvSpPr>
        <p:spPr>
          <a:xfrm>
            <a:off x="6509028" y="5069919"/>
            <a:ext cx="7394258" cy="11430"/>
          </a:xfrm>
          <a:prstGeom prst="roundRect">
            <a:avLst>
              <a:gd name="adj" fmla="val 712577"/>
            </a:avLst>
          </a:prstGeom>
          <a:solidFill>
            <a:srgbClr val="BBC2DC"/>
          </a:solidFill>
          <a:ln/>
        </p:spPr>
      </p:sp>
      <p:pic>
        <p:nvPicPr>
          <p:cNvPr id="22" name="Image 6" descr="preencoded.png">
            <a:extLst>
              <a:ext uri="{FF2B5EF4-FFF2-40B4-BE49-F238E27FC236}">
                <a16:creationId xmlns:a16="http://schemas.microsoft.com/office/drawing/2014/main" id="{54914B6E-3AFB-4E4C-825C-ACF6C099A5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756" y="5103733"/>
            <a:ext cx="6570107" cy="1133118"/>
          </a:xfrm>
          <a:prstGeom prst="rect">
            <a:avLst/>
          </a:prstGeom>
        </p:spPr>
      </p:pic>
      <p:pic>
        <p:nvPicPr>
          <p:cNvPr id="23" name="Image 7" descr="preencoded.png">
            <a:extLst>
              <a:ext uri="{FF2B5EF4-FFF2-40B4-BE49-F238E27FC236}">
                <a16:creationId xmlns:a16="http://schemas.microsoft.com/office/drawing/2014/main" id="{A9D98FBB-E4FC-49BB-827C-B76A6AB1EF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0363" y="5499854"/>
            <a:ext cx="272653" cy="340876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F57A74DF-19DC-439A-8F90-3C70F3529DF5}"/>
              </a:ext>
            </a:extLst>
          </p:cNvPr>
          <p:cNvSpPr/>
          <p:nvPr/>
        </p:nvSpPr>
        <p:spPr>
          <a:xfrm>
            <a:off x="7475696" y="5297567"/>
            <a:ext cx="255150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Базы данных и API</a:t>
            </a:r>
            <a:endParaRPr lang="en-US" sz="20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2097699-B46E-42F5-9DBF-ECC2EF5E8F3F}"/>
              </a:ext>
            </a:extLst>
          </p:cNvPr>
          <p:cNvSpPr/>
          <p:nvPr/>
        </p:nvSpPr>
        <p:spPr>
          <a:xfrm>
            <a:off x="7475696" y="5732740"/>
            <a:ext cx="348305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PostgreSQL, Weaviate и OpenAI API</a:t>
            </a:r>
            <a:endParaRPr lang="en-US" sz="150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5BFF48A1-9E93-46B5-9DB2-B944E261F2CA}"/>
              </a:ext>
            </a:extLst>
          </p:cNvPr>
          <p:cNvSpPr/>
          <p:nvPr/>
        </p:nvSpPr>
        <p:spPr>
          <a:xfrm>
            <a:off x="678656" y="6454973"/>
            <a:ext cx="13273088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Проект реализован с использованием модульной архитектуры, где каждый компонент отвечает за свою область обработки входящих сообщений. Система построена на фреймворке LangChain, что позволяет эффективно управлять взаимодействием между LLM и внешними источниками данных. В ядре используется LLM-модель, которая получает векторизованный текст входящего сообщения и возвращает вероятностную оценку интента, эмоциональной окраски и рекомендаций.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869586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3DD6333-458B-4929-A94A-15BA327F76DB}"/>
              </a:ext>
            </a:extLst>
          </p:cNvPr>
          <p:cNvSpPr/>
          <p:nvPr/>
        </p:nvSpPr>
        <p:spPr>
          <a:xfrm>
            <a:off x="758309" y="765453"/>
            <a:ext cx="79289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Ключевые LLM-компоненты</a:t>
            </a:r>
            <a:endParaRPr lang="en-US" sz="445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9D522F6B-1948-4C59-9C9E-361EF3CE76CA}"/>
              </a:ext>
            </a:extLst>
          </p:cNvPr>
          <p:cNvSpPr/>
          <p:nvPr/>
        </p:nvSpPr>
        <p:spPr>
          <a:xfrm>
            <a:off x="758309" y="1911429"/>
            <a:ext cx="6448663" cy="2668072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21EEEFB-7484-4451-A689-13EE4F608657}"/>
              </a:ext>
            </a:extLst>
          </p:cNvPr>
          <p:cNvSpPr/>
          <p:nvPr/>
        </p:nvSpPr>
        <p:spPr>
          <a:xfrm>
            <a:off x="982504" y="213562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Intent Agent</a:t>
            </a:r>
            <a:endParaRPr lang="en-US" sz="2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F7BB26A-72CE-4DD2-A4DE-5A152B56EBF8}"/>
              </a:ext>
            </a:extLst>
          </p:cNvPr>
          <p:cNvSpPr/>
          <p:nvPr/>
        </p:nvSpPr>
        <p:spPr>
          <a:xfrm>
            <a:off x="982504" y="2621756"/>
            <a:ext cx="600027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Модуль, отвечающий за определение намерения пользователя по тексту сообщения. Использует LLM для классификации запросов, таких как "узнать баланс", "сменить тариф" или "завершить разговор". Анализирует контекст диалога для уточнения цели обращения.</a:t>
            </a:r>
            <a:endParaRPr lang="en-US" sz="17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4B7497B6-691F-466A-A722-B39BA3377116}"/>
              </a:ext>
            </a:extLst>
          </p:cNvPr>
          <p:cNvSpPr/>
          <p:nvPr/>
        </p:nvSpPr>
        <p:spPr>
          <a:xfrm>
            <a:off x="7423547" y="1911429"/>
            <a:ext cx="6448663" cy="2668072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C6F81AB-F503-4600-BB9B-36D75F5B3EA8}"/>
              </a:ext>
            </a:extLst>
          </p:cNvPr>
          <p:cNvSpPr/>
          <p:nvPr/>
        </p:nvSpPr>
        <p:spPr>
          <a:xfrm>
            <a:off x="7647742" y="213562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Emotion Agent</a:t>
            </a:r>
            <a:endParaRPr lang="en-US" sz="2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22D3C62-6498-4992-9DA1-123F25A36880}"/>
              </a:ext>
            </a:extLst>
          </p:cNvPr>
          <p:cNvSpPr/>
          <p:nvPr/>
        </p:nvSpPr>
        <p:spPr>
          <a:xfrm>
            <a:off x="7647742" y="2621756"/>
            <a:ext cx="600027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Модуль, анализирующий эмоциональное состояние пользователя. С помощью LLM определяет уровень стресса, раздражения, удовлетворённости или нейтральности. Эмоциональный фон помогает понять срочность ситуации и выбрать правильный тон ответа.</a:t>
            </a:r>
            <a:endParaRPr lang="en-US" sz="17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1B78208-0671-45BE-BB23-104C5F5C90C3}"/>
              </a:ext>
            </a:extLst>
          </p:cNvPr>
          <p:cNvSpPr/>
          <p:nvPr/>
        </p:nvSpPr>
        <p:spPr>
          <a:xfrm>
            <a:off x="758309" y="4796076"/>
            <a:ext cx="6448663" cy="2668072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CEEEC7D-4021-4AB4-9618-ED5DEF34A714}"/>
              </a:ext>
            </a:extLst>
          </p:cNvPr>
          <p:cNvSpPr/>
          <p:nvPr/>
        </p:nvSpPr>
        <p:spPr>
          <a:xfrm>
            <a:off x="982504" y="502027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Knowledge Agent</a:t>
            </a:r>
            <a:endParaRPr lang="en-US" sz="22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0FA7983B-09E9-4717-848A-31F7FFC6D724}"/>
              </a:ext>
            </a:extLst>
          </p:cNvPr>
          <p:cNvSpPr/>
          <p:nvPr/>
        </p:nvSpPr>
        <p:spPr>
          <a:xfrm>
            <a:off x="982504" y="5506403"/>
            <a:ext cx="600027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Модуль, отвечающий за поиск и предоставление справочной информации. Взаимодействует с базой знаний через LangChain и LLM, чтобы находить релевантные ответы. Может использовать векторный поиск для сопоставления вопроса с записями в базе.</a:t>
            </a:r>
            <a:endParaRPr lang="en-US" sz="17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EAD8A2E9-F42B-41C8-9E9E-451B55528B56}"/>
              </a:ext>
            </a:extLst>
          </p:cNvPr>
          <p:cNvSpPr/>
          <p:nvPr/>
        </p:nvSpPr>
        <p:spPr>
          <a:xfrm>
            <a:off x="7423547" y="4796076"/>
            <a:ext cx="6448663" cy="2668072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346668A-00F0-4158-B4B6-2BC9EE8403A9}"/>
              </a:ext>
            </a:extLst>
          </p:cNvPr>
          <p:cNvSpPr/>
          <p:nvPr/>
        </p:nvSpPr>
        <p:spPr>
          <a:xfrm>
            <a:off x="7647742" y="5020270"/>
            <a:ext cx="360747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Action Suggestion Agent</a:t>
            </a:r>
            <a:endParaRPr lang="en-US" sz="2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E013ADD6-9674-4772-B132-B5ABAFBD1C17}"/>
              </a:ext>
            </a:extLst>
          </p:cNvPr>
          <p:cNvSpPr/>
          <p:nvPr/>
        </p:nvSpPr>
        <p:spPr>
          <a:xfrm>
            <a:off x="7647742" y="5506403"/>
            <a:ext cx="600027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Модуль, генерирующий рекомендации по действиям для оператора на основе данных от других агентов. Формирует подсказки: как ответить, нужно ли передать запрос человеку, какой скрипт применить или какой шаг предпринять далее.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803559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4448E1F-9754-43CB-9D7F-F10FA6313EAC}"/>
              </a:ext>
            </a:extLst>
          </p:cNvPr>
          <p:cNvSpPr/>
          <p:nvPr/>
        </p:nvSpPr>
        <p:spPr>
          <a:xfrm>
            <a:off x="758309" y="630912"/>
            <a:ext cx="904232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Интеграция с веб-приложением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4B70A6C-DFB2-403C-BD19-E3673D0811DF}"/>
              </a:ext>
            </a:extLst>
          </p:cNvPr>
          <p:cNvSpPr/>
          <p:nvPr/>
        </p:nvSpPr>
        <p:spPr>
          <a:xfrm>
            <a:off x="758309" y="1885117"/>
            <a:ext cx="397942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Интерфейс веб-приложения</a:t>
            </a:r>
            <a:endParaRPr lang="en-US" sz="2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EC69F76-152B-45C5-BAE0-36B4E170E599}"/>
              </a:ext>
            </a:extLst>
          </p:cNvPr>
          <p:cNvSpPr/>
          <p:nvPr/>
        </p:nvSpPr>
        <p:spPr>
          <a:xfrm>
            <a:off x="758309" y="2457926"/>
            <a:ext cx="629257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Веб-интерфейс разработан с акцентом на простоту, удобство и наглядность. Он предоставляет оператору все необходимые элементы для отправки запросов и анализа полученных данных от интеллектуальной системы.</a:t>
            </a:r>
            <a:endParaRPr lang="en-US" sz="17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B8EC457-0E8C-4FD3-B619-D55E10F37120}"/>
              </a:ext>
            </a:extLst>
          </p:cNvPr>
          <p:cNvSpPr/>
          <p:nvPr/>
        </p:nvSpPr>
        <p:spPr>
          <a:xfrm>
            <a:off x="758309" y="4039672"/>
            <a:ext cx="629257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 левой части отображаются данные, возвращённые системой: определённые намерения пользователя, его эмоциональное состояние и сформированные рекомендации. Вся информация представлена в структурированном виде.</a:t>
            </a:r>
            <a:endParaRPr lang="en-US" sz="17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A5815BD-15A4-47CA-9BDC-9265A3E26E6E}"/>
              </a:ext>
            </a:extLst>
          </p:cNvPr>
          <p:cNvSpPr/>
          <p:nvPr/>
        </p:nvSpPr>
        <p:spPr>
          <a:xfrm>
            <a:off x="7587139" y="1885117"/>
            <a:ext cx="427458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Блоки и элементы управления</a:t>
            </a:r>
            <a:endParaRPr lang="en-US" sz="2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2A49EDA-E040-4C11-8FD8-12F78EA9FA41}"/>
              </a:ext>
            </a:extLst>
          </p:cNvPr>
          <p:cNvSpPr/>
          <p:nvPr/>
        </p:nvSpPr>
        <p:spPr>
          <a:xfrm>
            <a:off x="7587139" y="2457926"/>
            <a:ext cx="629257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Справа расположен список всех ранее отправленных сообщений. Он позволяет отслеживать хронологию взаимодействий, быстро возвращаться к нужным запросам и просматривать результаты их обработки.</a:t>
            </a:r>
            <a:endParaRPr lang="en-US" sz="17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2E951B4-1DA9-4B86-A84E-98BAE592C227}"/>
              </a:ext>
            </a:extLst>
          </p:cNvPr>
          <p:cNvSpPr/>
          <p:nvPr/>
        </p:nvSpPr>
        <p:spPr>
          <a:xfrm>
            <a:off x="7587139" y="4039672"/>
            <a:ext cx="629257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 нижней части интерфейса находится интерактивная форма, состоящая из трёх текстовых полей: для ввода текста запроса, номера телефона (опционально) и идентификатора пользователя (опционально).</a:t>
            </a:r>
            <a:endParaRPr lang="en-US" sz="17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3456550-01B9-452B-98BD-D1BF0EC65762}"/>
              </a:ext>
            </a:extLst>
          </p:cNvPr>
          <p:cNvSpPr/>
          <p:nvPr/>
        </p:nvSpPr>
        <p:spPr>
          <a:xfrm>
            <a:off x="758309" y="6211848"/>
            <a:ext cx="1311378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Используемые технологии: LangChain для маршрутизации и обработки LLM-запросов, FastAPI — серверная часть взаимодействия, PostgreSQL + Sqlalchemy — база данных для хранения информации о клиентах, HTML/JS — фронтент составляющая, OpenAI API — взаимодействие с LLM и моделью embedding, Weaviate — векторная база данных для индексации базы знаний.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198749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D47CADA-17DA-4AE0-B37A-CDFE4FEFC62D}"/>
              </a:ext>
            </a:extLst>
          </p:cNvPr>
          <p:cNvSpPr/>
          <p:nvPr/>
        </p:nvSpPr>
        <p:spPr>
          <a:xfrm>
            <a:off x="729258" y="572929"/>
            <a:ext cx="6858119" cy="68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Quality Assurance Agent</a:t>
            </a:r>
            <a:endParaRPr lang="en-US" sz="43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8B105FC-6EDD-477F-89CF-23BCB2CA4DF6}"/>
              </a:ext>
            </a:extLst>
          </p:cNvPr>
          <p:cNvSpPr/>
          <p:nvPr/>
        </p:nvSpPr>
        <p:spPr>
          <a:xfrm>
            <a:off x="1955959" y="2182058"/>
            <a:ext cx="2741652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Анализ диалога</a:t>
            </a:r>
            <a:endParaRPr lang="en-US" sz="21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BB357E7-F9DA-42CD-814D-3378950EF3A3}"/>
              </a:ext>
            </a:extLst>
          </p:cNvPr>
          <p:cNvSpPr/>
          <p:nvPr/>
        </p:nvSpPr>
        <p:spPr>
          <a:xfrm>
            <a:off x="729258" y="2649736"/>
            <a:ext cx="396835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Оценка соответствия коммуникации внутренним стандартам</a:t>
            </a:r>
            <a:endParaRPr lang="en-US" sz="16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F05C14E4-21C5-4B73-82B0-AE91FE5E0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50" y="1674971"/>
            <a:ext cx="4610100" cy="4610100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F269CE86-B6F3-4C3D-BA61-AE8549507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434" y="2465010"/>
            <a:ext cx="311706" cy="389692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1A4F5D5C-56B7-4378-868C-22A53E2C4B10}"/>
              </a:ext>
            </a:extLst>
          </p:cNvPr>
          <p:cNvSpPr/>
          <p:nvPr/>
        </p:nvSpPr>
        <p:spPr>
          <a:xfrm>
            <a:off x="9932789" y="2182058"/>
            <a:ext cx="3189565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Выявление отклонений</a:t>
            </a:r>
            <a:endParaRPr lang="en-US" sz="21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B187FD9-A25C-4474-B2E7-73FA3D810E1C}"/>
              </a:ext>
            </a:extLst>
          </p:cNvPr>
          <p:cNvSpPr/>
          <p:nvPr/>
        </p:nvSpPr>
        <p:spPr>
          <a:xfrm>
            <a:off x="9932789" y="2649736"/>
            <a:ext cx="396835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Обнаружение недочётов в ответах или неверного тона</a:t>
            </a:r>
            <a:endParaRPr lang="en-US" sz="16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5A8A044F-C214-414D-9CAD-8D55FABEA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150" y="1674971"/>
            <a:ext cx="4610100" cy="4610100"/>
          </a:xfrm>
          <a:prstGeom prst="rect">
            <a:avLst/>
          </a:prstGeom>
        </p:spPr>
      </p:pic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7FD57E13-8144-4D4D-96F2-38ACDE3E4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334" y="2857321"/>
            <a:ext cx="311706" cy="389692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1853C987-6CED-4D60-AD31-F9D104C9F3FC}"/>
              </a:ext>
            </a:extLst>
          </p:cNvPr>
          <p:cNvSpPr/>
          <p:nvPr/>
        </p:nvSpPr>
        <p:spPr>
          <a:xfrm>
            <a:off x="9932789" y="4643438"/>
            <a:ext cx="3448883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Предложение улучшений</a:t>
            </a:r>
            <a:endParaRPr lang="en-US" sz="215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7315FAA7-6A2F-4B34-B231-D99FFE3B88A7}"/>
              </a:ext>
            </a:extLst>
          </p:cNvPr>
          <p:cNvSpPr/>
          <p:nvPr/>
        </p:nvSpPr>
        <p:spPr>
          <a:xfrm>
            <a:off x="9932789" y="5111115"/>
            <a:ext cx="396835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Формирование корректирующих мер и рекомендаций</a:t>
            </a:r>
            <a:endParaRPr lang="en-US" sz="160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21AEE92-CC19-491B-B6A6-C9BD90BA06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150" y="1674971"/>
            <a:ext cx="4610100" cy="4610100"/>
          </a:xfrm>
          <a:prstGeom prst="rect">
            <a:avLst/>
          </a:prstGeom>
        </p:spPr>
      </p:pic>
      <p:pic>
        <p:nvPicPr>
          <p:cNvPr id="16" name="Image 5" descr="preencoded.png">
            <a:extLst>
              <a:ext uri="{FF2B5EF4-FFF2-40B4-BE49-F238E27FC236}">
                <a16:creationId xmlns:a16="http://schemas.microsoft.com/office/drawing/2014/main" id="{ADE75646-651F-49DC-B18E-121472DBD1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7023" y="5105221"/>
            <a:ext cx="311706" cy="389692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087D6FCB-37B2-457D-81FA-8F15702A03C7}"/>
              </a:ext>
            </a:extLst>
          </p:cNvPr>
          <p:cNvSpPr/>
          <p:nvPr/>
        </p:nvSpPr>
        <p:spPr>
          <a:xfrm>
            <a:off x="1695688" y="4643438"/>
            <a:ext cx="3001923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Обучение операторов</a:t>
            </a:r>
            <a:endParaRPr lang="en-US" sz="215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4AF6470-D925-4D1B-8E4F-DF57E538F5AF}"/>
              </a:ext>
            </a:extLst>
          </p:cNvPr>
          <p:cNvSpPr/>
          <p:nvPr/>
        </p:nvSpPr>
        <p:spPr>
          <a:xfrm>
            <a:off x="729258" y="5111115"/>
            <a:ext cx="396835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Поддержка высокого уровня сервиса через практику</a:t>
            </a:r>
            <a:endParaRPr lang="en-US" sz="1600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C8E75409-48BD-44BA-AD18-DA49B127E6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150" y="1674971"/>
            <a:ext cx="4610100" cy="4610100"/>
          </a:xfrm>
          <a:prstGeom prst="rect">
            <a:avLst/>
          </a:prstGeom>
        </p:spPr>
      </p:pic>
      <p:pic>
        <p:nvPicPr>
          <p:cNvPr id="20" name="Image 7" descr="preencoded.png">
            <a:extLst>
              <a:ext uri="{FF2B5EF4-FFF2-40B4-BE49-F238E27FC236}">
                <a16:creationId xmlns:a16="http://schemas.microsoft.com/office/drawing/2014/main" id="{0809FDB7-A4AB-4D98-B5CE-9A343EB8D5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9123" y="4712910"/>
            <a:ext cx="311706" cy="389692"/>
          </a:xfrm>
          <a:prstGeom prst="rect">
            <a:avLst/>
          </a:prstGeom>
        </p:spPr>
      </p:pic>
      <p:sp>
        <p:nvSpPr>
          <p:cNvPr id="21" name="Text 9">
            <a:extLst>
              <a:ext uri="{FF2B5EF4-FFF2-40B4-BE49-F238E27FC236}">
                <a16:creationId xmlns:a16="http://schemas.microsoft.com/office/drawing/2014/main" id="{13667850-584E-4F4C-80CC-FC300BC14C82}"/>
              </a:ext>
            </a:extLst>
          </p:cNvPr>
          <p:cNvSpPr/>
          <p:nvPr/>
        </p:nvSpPr>
        <p:spPr>
          <a:xfrm>
            <a:off x="729258" y="6519386"/>
            <a:ext cx="13171884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Quality Assurance Agent — это модуль, предназначенный для контроля качества коммуникации между оператором и клиентом. Он анализирует соответствие диалога внутренним стандартам общения и сценариям. С помощью LLM агент выявляет отклонения, недочёты в ответах или неверный тон. При необходимости он предлагает корректирующие меры: улучшенные формулировки, замечания по стилю или рекомендации по действиям.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64552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4C86E-5776-499C-B128-78504235E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BDE45-CA3C-40EC-92A0-52EEF2EE9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80004EEA-3DBD-49B0-BC21-69E799826BA5}"/>
              </a:ext>
            </a:extLst>
          </p:cNvPr>
          <p:cNvSpPr/>
          <p:nvPr/>
        </p:nvSpPr>
        <p:spPr>
          <a:xfrm>
            <a:off x="601028" y="472202"/>
            <a:ext cx="6314956" cy="56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Планы на будущее развитие</a:t>
            </a:r>
            <a:endParaRPr lang="en-US" sz="355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6E22795-8D29-4E3B-B4E7-EAFE3D57DC99}"/>
              </a:ext>
            </a:extLst>
          </p:cNvPr>
          <p:cNvSpPr/>
          <p:nvPr/>
        </p:nvSpPr>
        <p:spPr>
          <a:xfrm>
            <a:off x="601028" y="1380530"/>
            <a:ext cx="1342787" cy="1003459"/>
          </a:xfrm>
          <a:prstGeom prst="roundRect">
            <a:avLst>
              <a:gd name="adj" fmla="val 71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AB5F1EAC-4BA7-4543-AB32-B8ED6E018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92" y="1731288"/>
            <a:ext cx="241459" cy="301823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B1E8A3A7-101B-441E-9E3B-89113B1FA416}"/>
              </a:ext>
            </a:extLst>
          </p:cNvPr>
          <p:cNvSpPr/>
          <p:nvPr/>
        </p:nvSpPr>
        <p:spPr>
          <a:xfrm>
            <a:off x="2115503" y="1552218"/>
            <a:ext cx="3898106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Интеграция голосовых обращений</a:t>
            </a:r>
            <a:endParaRPr lang="en-US" sz="17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FD56523-FE84-4151-A9C6-3D0944F6ED9F}"/>
              </a:ext>
            </a:extLst>
          </p:cNvPr>
          <p:cNvSpPr/>
          <p:nvPr/>
        </p:nvSpPr>
        <p:spPr>
          <a:xfrm>
            <a:off x="2115503" y="1937623"/>
            <a:ext cx="464855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Расширение на телефонные каналы в реальном времени</a:t>
            </a:r>
            <a:endParaRPr lang="en-US" sz="135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1DF1DC19-36CD-43F3-AFBF-D239A00EF250}"/>
              </a:ext>
            </a:extLst>
          </p:cNvPr>
          <p:cNvSpPr/>
          <p:nvPr/>
        </p:nvSpPr>
        <p:spPr>
          <a:xfrm>
            <a:off x="2029658" y="2374463"/>
            <a:ext cx="11913870" cy="11430"/>
          </a:xfrm>
          <a:prstGeom prst="roundRect">
            <a:avLst>
              <a:gd name="adj" fmla="val 631009"/>
            </a:avLst>
          </a:prstGeom>
          <a:solidFill>
            <a:srgbClr val="BBC2DC"/>
          </a:solidFill>
          <a:ln/>
        </p:spPr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E8BC0BB-6A3D-4794-9214-335CEFB364E3}"/>
              </a:ext>
            </a:extLst>
          </p:cNvPr>
          <p:cNvSpPr/>
          <p:nvPr/>
        </p:nvSpPr>
        <p:spPr>
          <a:xfrm>
            <a:off x="601028" y="2469832"/>
            <a:ext cx="2685574" cy="1003459"/>
          </a:xfrm>
          <a:prstGeom prst="roundRect">
            <a:avLst>
              <a:gd name="adj" fmla="val 71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DAD25B9-1AC7-4440-8BA3-C2BDE0A96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085" y="2820591"/>
            <a:ext cx="241459" cy="301823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B271C6D3-5C86-4789-87DC-7D51B3392F70}"/>
              </a:ext>
            </a:extLst>
          </p:cNvPr>
          <p:cNvSpPr/>
          <p:nvPr/>
        </p:nvSpPr>
        <p:spPr>
          <a:xfrm>
            <a:off x="3458289" y="2641521"/>
            <a:ext cx="4129326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Обучение на корпоративных данных</a:t>
            </a:r>
            <a:endParaRPr lang="en-US" sz="17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078544C-C296-4E80-9391-96B8D4764DFC}"/>
              </a:ext>
            </a:extLst>
          </p:cNvPr>
          <p:cNvSpPr/>
          <p:nvPr/>
        </p:nvSpPr>
        <p:spPr>
          <a:xfrm>
            <a:off x="3458289" y="3026926"/>
            <a:ext cx="420731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Использование внутренних кейсов и терминологии</a:t>
            </a:r>
            <a:endParaRPr lang="en-US" sz="135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62772FEA-A395-4155-884B-3E31CCC3D473}"/>
              </a:ext>
            </a:extLst>
          </p:cNvPr>
          <p:cNvSpPr/>
          <p:nvPr/>
        </p:nvSpPr>
        <p:spPr>
          <a:xfrm>
            <a:off x="3372445" y="3463766"/>
            <a:ext cx="10571083" cy="11430"/>
          </a:xfrm>
          <a:prstGeom prst="roundRect">
            <a:avLst>
              <a:gd name="adj" fmla="val 631009"/>
            </a:avLst>
          </a:prstGeom>
          <a:solidFill>
            <a:srgbClr val="BBC2DC"/>
          </a:solidFill>
          <a:ln/>
        </p:spPr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D03A620A-9FD9-475B-A801-55FB634459CF}"/>
              </a:ext>
            </a:extLst>
          </p:cNvPr>
          <p:cNvSpPr/>
          <p:nvPr/>
        </p:nvSpPr>
        <p:spPr>
          <a:xfrm>
            <a:off x="601028" y="3559135"/>
            <a:ext cx="4028480" cy="1003459"/>
          </a:xfrm>
          <a:prstGeom prst="roundRect">
            <a:avLst>
              <a:gd name="adj" fmla="val 71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D70A1BF0-CF88-467F-846C-57CDA7B11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478" y="3909893"/>
            <a:ext cx="241459" cy="301823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425B85FA-0005-469B-9EAE-AE42783AF95E}"/>
              </a:ext>
            </a:extLst>
          </p:cNvPr>
          <p:cNvSpPr/>
          <p:nvPr/>
        </p:nvSpPr>
        <p:spPr>
          <a:xfrm>
            <a:off x="4801195" y="3730823"/>
            <a:ext cx="4961334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Подключение мультиканальных источников</a:t>
            </a:r>
            <a:endParaRPr lang="en-US" sz="175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CE40446F-76A2-46B4-BDC6-ECCA35360ABB}"/>
              </a:ext>
            </a:extLst>
          </p:cNvPr>
          <p:cNvSpPr/>
          <p:nvPr/>
        </p:nvSpPr>
        <p:spPr>
          <a:xfrm>
            <a:off x="4801195" y="4116229"/>
            <a:ext cx="496133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Интеграция мессенджеров, соцсетей и email</a:t>
            </a:r>
            <a:endParaRPr lang="en-US" sz="135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D759301B-7A2D-477C-9BD5-5C35930F83E0}"/>
              </a:ext>
            </a:extLst>
          </p:cNvPr>
          <p:cNvSpPr/>
          <p:nvPr/>
        </p:nvSpPr>
        <p:spPr>
          <a:xfrm>
            <a:off x="4715351" y="4553069"/>
            <a:ext cx="9228177" cy="11430"/>
          </a:xfrm>
          <a:prstGeom prst="roundRect">
            <a:avLst>
              <a:gd name="adj" fmla="val 631009"/>
            </a:avLst>
          </a:prstGeom>
          <a:solidFill>
            <a:srgbClr val="BBC2DC"/>
          </a:solidFill>
          <a:ln/>
        </p:spPr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ACEAB296-C141-4A27-809F-007BDAA66E59}"/>
              </a:ext>
            </a:extLst>
          </p:cNvPr>
          <p:cNvSpPr/>
          <p:nvPr/>
        </p:nvSpPr>
        <p:spPr>
          <a:xfrm>
            <a:off x="601028" y="4648438"/>
            <a:ext cx="5371267" cy="1003459"/>
          </a:xfrm>
          <a:prstGeom prst="roundRect">
            <a:avLst>
              <a:gd name="adj" fmla="val 71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E7496EA0-A6C0-4F3D-BB93-90AE83A54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5872" y="4999196"/>
            <a:ext cx="241459" cy="301823"/>
          </a:xfrm>
          <a:prstGeom prst="rect">
            <a:avLst/>
          </a:prstGeom>
        </p:spPr>
      </p:pic>
      <p:sp>
        <p:nvSpPr>
          <p:cNvPr id="22" name="Text 14">
            <a:extLst>
              <a:ext uri="{FF2B5EF4-FFF2-40B4-BE49-F238E27FC236}">
                <a16:creationId xmlns:a16="http://schemas.microsoft.com/office/drawing/2014/main" id="{B449934B-E40C-46C8-BAA6-A110C44FE862}"/>
              </a:ext>
            </a:extLst>
          </p:cNvPr>
          <p:cNvSpPr/>
          <p:nvPr/>
        </p:nvSpPr>
        <p:spPr>
          <a:xfrm>
            <a:off x="6143982" y="4820126"/>
            <a:ext cx="380130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Автоматизация типовых действий</a:t>
            </a:r>
            <a:endParaRPr lang="en-US" sz="175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CA94DF7A-AA2F-4D6C-99B4-9DEB294A9D6A}"/>
              </a:ext>
            </a:extLst>
          </p:cNvPr>
          <p:cNvSpPr/>
          <p:nvPr/>
        </p:nvSpPr>
        <p:spPr>
          <a:xfrm>
            <a:off x="6143982" y="5205532"/>
            <a:ext cx="385572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Самостоятельное выполнение операций ботом</a:t>
            </a:r>
            <a:endParaRPr lang="en-US" sz="135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61F42E32-2B02-4A31-8405-57B1DF2A587E}"/>
              </a:ext>
            </a:extLst>
          </p:cNvPr>
          <p:cNvSpPr/>
          <p:nvPr/>
        </p:nvSpPr>
        <p:spPr>
          <a:xfrm>
            <a:off x="6058138" y="5642372"/>
            <a:ext cx="7885390" cy="11430"/>
          </a:xfrm>
          <a:prstGeom prst="roundRect">
            <a:avLst>
              <a:gd name="adj" fmla="val 631009"/>
            </a:avLst>
          </a:prstGeom>
          <a:solidFill>
            <a:srgbClr val="BBC2DC"/>
          </a:solidFill>
          <a:ln/>
        </p:spPr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30983DBB-BDE6-42A8-BF7D-B42D985F3143}"/>
              </a:ext>
            </a:extLst>
          </p:cNvPr>
          <p:cNvSpPr/>
          <p:nvPr/>
        </p:nvSpPr>
        <p:spPr>
          <a:xfrm>
            <a:off x="601028" y="5737741"/>
            <a:ext cx="6714173" cy="1003459"/>
          </a:xfrm>
          <a:prstGeom prst="roundRect">
            <a:avLst>
              <a:gd name="adj" fmla="val 71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C308E9E4-E695-43DB-BBEA-A6C2160D8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384" y="6088499"/>
            <a:ext cx="241459" cy="301823"/>
          </a:xfrm>
          <a:prstGeom prst="rect">
            <a:avLst/>
          </a:prstGeom>
        </p:spPr>
      </p:pic>
      <p:sp>
        <p:nvSpPr>
          <p:cNvPr id="27" name="Text 18">
            <a:extLst>
              <a:ext uri="{FF2B5EF4-FFF2-40B4-BE49-F238E27FC236}">
                <a16:creationId xmlns:a16="http://schemas.microsoft.com/office/drawing/2014/main" id="{16BAA5AA-FFFA-4FA5-A967-7EDF02F4F779}"/>
              </a:ext>
            </a:extLst>
          </p:cNvPr>
          <p:cNvSpPr/>
          <p:nvPr/>
        </p:nvSpPr>
        <p:spPr>
          <a:xfrm>
            <a:off x="7486888" y="5909429"/>
            <a:ext cx="303668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Мультиязычная поддержка</a:t>
            </a:r>
            <a:endParaRPr lang="en-US" sz="1750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F328B886-150A-4FEF-A570-61328E66D62D}"/>
              </a:ext>
            </a:extLst>
          </p:cNvPr>
          <p:cNvSpPr/>
          <p:nvPr/>
        </p:nvSpPr>
        <p:spPr>
          <a:xfrm>
            <a:off x="7486888" y="6294834"/>
            <a:ext cx="3784521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Масштабирование на другие регионы и рынки</a:t>
            </a:r>
            <a:endParaRPr lang="en-US" sz="135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0C1B27FF-E408-495A-9970-4A08FA7E9E2E}"/>
              </a:ext>
            </a:extLst>
          </p:cNvPr>
          <p:cNvSpPr/>
          <p:nvPr/>
        </p:nvSpPr>
        <p:spPr>
          <a:xfrm>
            <a:off x="601028" y="6934319"/>
            <a:ext cx="13428345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Дальнейшее развитие проекта предполагает расширение функциональности и повышение автономности системы. Интеграция с голосовыми каналами позволит обрабатывать телефонные обращения, а обучение на корпоративных данных повысит точность ответов. Подключение различных каналов коммуникации создаст единую точку обработки всех обращений клиентов.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482462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861</Words>
  <Application>Microsoft Office PowerPoint</Application>
  <PresentationFormat>Широкоэкранный</PresentationFormat>
  <Paragraphs>72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Alexandria Semi Bold</vt:lpstr>
      <vt:lpstr>Arial</vt:lpstr>
      <vt:lpstr>Calibri</vt:lpstr>
      <vt:lpstr>Calibri Light</vt:lpstr>
      <vt:lpstr>Sora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NK Volodin</dc:creator>
  <cp:lastModifiedBy>NK Volodin</cp:lastModifiedBy>
  <cp:revision>1</cp:revision>
  <dcterms:created xsi:type="dcterms:W3CDTF">2025-04-20T21:21:07Z</dcterms:created>
  <dcterms:modified xsi:type="dcterms:W3CDTF">2025-04-20T21:25:40Z</dcterms:modified>
</cp:coreProperties>
</file>