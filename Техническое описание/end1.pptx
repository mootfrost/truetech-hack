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4" r:id="rId8"/>
    <p:sldId id="263" r:id="rId9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6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99" d="100"/>
          <a:sy n="99" d="100"/>
        </p:scale>
        <p:origin x="90" y="174"/>
      </p:cViewPr>
      <p:guideLst>
        <p:guide orient="horz" pos="2160"/>
        <p:guide pos="3863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F7E42A5-67D3-4C32-BC8E-CA2152D6A6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5515686B-7438-4B2F-BFFC-6926B34A328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8B8F65E-E794-4CD1-BA17-8EEA1BEA70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94215-9AB5-407F-8599-4370E23A00D9}" type="datetimeFigureOut">
              <a:rPr lang="ru-RU" smtClean="0"/>
              <a:t>21.04.2025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9F79EFB-CBCA-4BE9-B038-5F7C84F187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A0E25B6-5320-439D-B5F6-B013F6CE12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643D6-A704-48E7-965F-3A803101640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468145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0FF69D8-CAFC-43DE-BA59-B9AA6EC4DA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12A7C76-1CBF-42FA-A898-D635658229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D97CB09-13B3-4529-A206-AC4295B526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94215-9AB5-407F-8599-4370E23A00D9}" type="datetimeFigureOut">
              <a:rPr lang="ru-RU" smtClean="0"/>
              <a:t>21.04.2025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4D521D9-E8CE-4B0E-AF2A-E8F7851D92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0638CA9-25F0-4F1F-959E-7FB39F75A0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643D6-A704-48E7-965F-3A803101640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68769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A47091-7C40-4B47-88D7-88D4C2C293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D83AF37-B017-43C0-9A82-61C2A6A19D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9710E9D-9C35-44E6-9845-61655ECF6D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94215-9AB5-407F-8599-4370E23A00D9}" type="datetimeFigureOut">
              <a:rPr lang="ru-RU" smtClean="0"/>
              <a:t>21.04.2025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1F0FBC9-3EF6-4C70-BD92-D1008E4902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2D5454E-E52E-4FCA-A096-E95593EAEE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643D6-A704-48E7-965F-3A803101640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377736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7D48768-AE3A-40A1-9AEA-96598A62B9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20255AC-4B70-4C02-A9E6-017A95CBA95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B1F2A258-BFD7-42C1-9D61-BA3D00CCC8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0E664DE-4D7F-48E5-94CA-23252B1E9A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94215-9AB5-407F-8599-4370E23A00D9}" type="datetimeFigureOut">
              <a:rPr lang="ru-RU" smtClean="0"/>
              <a:t>21.04.2025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5CBCB4B-08AC-45AF-A618-8CA4F3815E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229CD80-67FF-46F7-849A-D847BBAB08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643D6-A704-48E7-965F-3A803101640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736695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215C293-5051-4935-B8A7-054B543F63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7763D59-CD2A-41A9-B727-54F8157C6D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C5051073-5A1F-45D6-A063-4753A6739D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CD60873E-725E-4FB6-B93B-6A5C0749FF5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ACC2562E-7795-4EBF-9CDA-4A8CDB1F404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1DC17566-295E-4EBC-BCEA-0523600597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94215-9AB5-407F-8599-4370E23A00D9}" type="datetimeFigureOut">
              <a:rPr lang="ru-RU" smtClean="0"/>
              <a:t>21.04.2025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8CD98ACF-4A0C-46F4-BE28-5620E001B6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5D00F80D-A7A9-4D99-ADB1-1A9D5C3C16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643D6-A704-48E7-965F-3A803101640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026981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5865BFF-F106-420A-87BA-CC587414D7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AC6845FC-7402-4044-85AF-49C2865E9B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94215-9AB5-407F-8599-4370E23A00D9}" type="datetimeFigureOut">
              <a:rPr lang="ru-RU" smtClean="0"/>
              <a:t>21.04.2025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8B6C5CD5-5F83-47AF-8FE0-D641E8F7C5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D1684F1A-8D5A-451E-A15A-4A28B3124E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643D6-A704-48E7-965F-3A803101640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510279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33075612-4188-423C-833C-EC29404504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94215-9AB5-407F-8599-4370E23A00D9}" type="datetimeFigureOut">
              <a:rPr lang="ru-RU" smtClean="0"/>
              <a:t>21.04.2025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24516D95-221F-4A91-BE34-D2D747EFB9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36E8640-E3D8-488D-ACD0-63E3B30E55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643D6-A704-48E7-965F-3A803101640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248603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9F97737-AB4F-4D47-AA82-E826D217D6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7C5EFDF-F96F-4A54-AC26-42FEC9A947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32B1207D-2487-40B2-8F0E-634433C4C6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0016752B-A3CF-4670-908A-D6CD1732F9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94215-9AB5-407F-8599-4370E23A00D9}" type="datetimeFigureOut">
              <a:rPr lang="ru-RU" smtClean="0"/>
              <a:t>21.04.2025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BA89699C-F4FF-4418-BCBC-4C62438F12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934EE4F6-606E-4A49-8603-BDA0D5C7D0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643D6-A704-48E7-965F-3A803101640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084226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A194F94-07B4-4A28-9CF3-BD6308995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CF525761-2D7B-4BA0-8AC4-9EC19201A11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5172956-4379-4C84-AFB7-2B213943B4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999F740-D6D9-4311-822F-0078B3A995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94215-9AB5-407F-8599-4370E23A00D9}" type="datetimeFigureOut">
              <a:rPr lang="ru-RU" smtClean="0"/>
              <a:t>21.04.2025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C7E12482-7276-445F-AD22-4A8B5091CC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ED8A375-5FA3-4F45-8E7F-110E8380C3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643D6-A704-48E7-965F-3A803101640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926895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E55AC5A-706C-43AD-95D9-C7675D7223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12FBE52D-0994-4E7A-A174-50B0CA2066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92DA141-F84B-410B-BD7C-349F0351ED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94215-9AB5-407F-8599-4370E23A00D9}" type="datetimeFigureOut">
              <a:rPr lang="ru-RU" smtClean="0"/>
              <a:t>21.04.2025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F5EACA6-7A25-41C5-A0E2-8376DF4E8E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5CE9F72-36FB-4FC8-8DF3-65A37E12A0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643D6-A704-48E7-965F-3A803101640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97555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71BF2232-7933-4151-8BF6-53A5A2A34E3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43BF51A5-2CC4-46D2-966F-9A3AF2FBEF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561D2BD-3316-4797-B277-F730EA2D4A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94215-9AB5-407F-8599-4370E23A00D9}" type="datetimeFigureOut">
              <a:rPr lang="ru-RU" smtClean="0"/>
              <a:t>21.04.2025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CE34ADA-06AB-4B20-BAEF-51F6301938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B4AFDC5-EFD7-44C3-85EF-2C1B69F341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643D6-A704-48E7-965F-3A803101640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071254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0DB1EA1-A57F-4B89-A7A5-366B69BD4F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53E8AA9-B148-46AD-8EE3-B08B25B9FF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812FC76-6012-4411-878A-358968ACFA2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694215-9AB5-407F-8599-4370E23A00D9}" type="datetimeFigureOut">
              <a:rPr lang="ru-RU" smtClean="0"/>
              <a:t>21.04.2025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30573F6-8649-4F98-83FB-3563B4F832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E3C6F28-1B9B-4A11-AF0D-D5A0B539E9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1643D6-A704-48E7-965F-3A803101640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524184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 0" descr="preencoded.png">
            <a:extLst>
              <a:ext uri="{FF2B5EF4-FFF2-40B4-BE49-F238E27FC236}">
                <a16:creationId xmlns:a16="http://schemas.microsoft.com/office/drawing/2014/main" id="{30ACEAE8-321A-41B7-9959-37E68CB074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282" y="-137161"/>
            <a:ext cx="4754880" cy="7132321"/>
          </a:xfrm>
          <a:prstGeom prst="rect">
            <a:avLst/>
          </a:prstGeom>
        </p:spPr>
      </p:pic>
      <p:sp>
        <p:nvSpPr>
          <p:cNvPr id="13" name="Text 0">
            <a:extLst>
              <a:ext uri="{FF2B5EF4-FFF2-40B4-BE49-F238E27FC236}">
                <a16:creationId xmlns:a16="http://schemas.microsoft.com/office/drawing/2014/main" id="{19C8C370-09C2-4698-91AC-F90830E7F0B3}"/>
              </a:ext>
            </a:extLst>
          </p:cNvPr>
          <p:cNvSpPr/>
          <p:nvPr/>
        </p:nvSpPr>
        <p:spPr>
          <a:xfrm>
            <a:off x="5186952" y="157605"/>
            <a:ext cx="6859766" cy="17458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100"/>
              </a:lnSpc>
              <a:buNone/>
            </a:pPr>
            <a:r>
              <a:rPr lang="en-US" sz="4000" dirty="0">
                <a:solidFill>
                  <a:srgbClr val="1F1E1E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lexandria Semi Bold" pitchFamily="34" charset="-120"/>
              </a:rPr>
              <a:t>Интеллектуальный</a:t>
            </a:r>
            <a:r>
              <a:rPr lang="en-US" sz="4050" dirty="0">
                <a:solidFill>
                  <a:srgbClr val="1F1E1E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lexandria Semi Bold" pitchFamily="34" charset="-120"/>
              </a:rPr>
              <a:t> чат-бот поддержки клиентов с использованием LLM</a:t>
            </a:r>
            <a:endParaRPr lang="en-US" sz="405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4" name="Text 1">
            <a:extLst>
              <a:ext uri="{FF2B5EF4-FFF2-40B4-BE49-F238E27FC236}">
                <a16:creationId xmlns:a16="http://schemas.microsoft.com/office/drawing/2014/main" id="{29D3C804-6704-42D4-BA90-6256B258A0A1}"/>
              </a:ext>
            </a:extLst>
          </p:cNvPr>
          <p:cNvSpPr/>
          <p:nvPr/>
        </p:nvSpPr>
        <p:spPr>
          <a:xfrm>
            <a:off x="5186952" y="2705701"/>
            <a:ext cx="6286363" cy="16975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ru-RU" sz="2000" dirty="0">
                <a:solidFill>
                  <a:srgbClr val="3B3535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Sora Light" pitchFamily="34" charset="-120"/>
              </a:rPr>
              <a:t>Целью проекта является создание интеллектуального чат-бота на базе LLM, способного помочь оператору при коммуникации с пользователем, повышая эффективность взаимодействия и качество обслуживания.</a:t>
            </a:r>
            <a:endParaRPr lang="en-US" sz="2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5" name="Text 2">
            <a:extLst>
              <a:ext uri="{FF2B5EF4-FFF2-40B4-BE49-F238E27FC236}">
                <a16:creationId xmlns:a16="http://schemas.microsoft.com/office/drawing/2014/main" id="{391C2FA5-B089-4277-A33B-B041F1EFD935}"/>
              </a:ext>
            </a:extLst>
          </p:cNvPr>
          <p:cNvSpPr/>
          <p:nvPr/>
        </p:nvSpPr>
        <p:spPr>
          <a:xfrm>
            <a:off x="5186952" y="4682375"/>
            <a:ext cx="6859766" cy="16975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ru-RU" sz="2000" dirty="0">
                <a:solidFill>
                  <a:srgbClr val="3B3535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Sora Light" pitchFamily="34" charset="-120"/>
              </a:rPr>
              <a:t>Компании сталкиваются с запросом на быструю и персонализированную поддержку, но традиционные чат-боты не справляются с контекстом и эмоциями. Это делает общение формальным, снижает доверие и увеличивает нагрузку на операторов.</a:t>
            </a:r>
            <a:endParaRPr lang="en-US" sz="2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388796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>
            <a:extLst>
              <a:ext uri="{FF2B5EF4-FFF2-40B4-BE49-F238E27FC236}">
                <a16:creationId xmlns:a16="http://schemas.microsoft.com/office/drawing/2014/main" id="{090ED2A6-8B73-48B6-B575-79CE51914178}"/>
              </a:ext>
            </a:extLst>
          </p:cNvPr>
          <p:cNvSpPr/>
          <p:nvPr/>
        </p:nvSpPr>
        <p:spPr>
          <a:xfrm>
            <a:off x="1323652" y="275490"/>
            <a:ext cx="9617721" cy="675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350"/>
              </a:lnSpc>
              <a:buNone/>
            </a:pPr>
            <a:r>
              <a:rPr lang="en-US" sz="4000" dirty="0">
                <a:solidFill>
                  <a:srgbClr val="1F1E1E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lexandria Semi Bold" pitchFamily="34" charset="-120"/>
              </a:rPr>
              <a:t>Проблематика традиционных чат-ботов</a:t>
            </a:r>
            <a:endParaRPr lang="en-US" sz="4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pic>
        <p:nvPicPr>
          <p:cNvPr id="5" name="Image 1" descr="preencoded.png">
            <a:extLst>
              <a:ext uri="{FF2B5EF4-FFF2-40B4-BE49-F238E27FC236}">
                <a16:creationId xmlns:a16="http://schemas.microsoft.com/office/drawing/2014/main" id="{03042919-6366-41FF-842B-CE6C1081B3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5177" y="1413694"/>
            <a:ext cx="266224" cy="332780"/>
          </a:xfrm>
          <a:prstGeom prst="rect">
            <a:avLst/>
          </a:prstGeom>
        </p:spPr>
      </p:pic>
      <p:sp>
        <p:nvSpPr>
          <p:cNvPr id="6" name="Text 2">
            <a:extLst>
              <a:ext uri="{FF2B5EF4-FFF2-40B4-BE49-F238E27FC236}">
                <a16:creationId xmlns:a16="http://schemas.microsoft.com/office/drawing/2014/main" id="{02BA9D87-6ECF-4514-8319-A8C336C78666}"/>
              </a:ext>
            </a:extLst>
          </p:cNvPr>
          <p:cNvSpPr/>
          <p:nvPr/>
        </p:nvSpPr>
        <p:spPr>
          <a:xfrm>
            <a:off x="4776667" y="1374614"/>
            <a:ext cx="3103007" cy="168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2000" dirty="0">
                <a:solidFill>
                  <a:srgbClr val="3B3535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lexandria Semi Bold" pitchFamily="34" charset="-120"/>
              </a:rPr>
              <a:t>Эмоциональное восприятие</a:t>
            </a:r>
            <a:endParaRPr lang="en-US" sz="2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FD9C986C-3ADB-4DCA-8216-61E853D09B01}"/>
              </a:ext>
            </a:extLst>
          </p:cNvPr>
          <p:cNvSpPr/>
          <p:nvPr/>
        </p:nvSpPr>
        <p:spPr>
          <a:xfrm>
            <a:off x="4776666" y="1768917"/>
            <a:ext cx="7415333" cy="328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2000" dirty="0">
                <a:solidFill>
                  <a:srgbClr val="3B3535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Sora Light" pitchFamily="34" charset="-120"/>
              </a:rPr>
              <a:t>Неспособность распознать эмоциональное состояние пользователя, что приводит к формальным ответам без анализа настроения.</a:t>
            </a:r>
            <a:endParaRPr lang="en-US" sz="2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pic>
        <p:nvPicPr>
          <p:cNvPr id="8" name="Image 2" descr="preencoded.png">
            <a:extLst>
              <a:ext uri="{FF2B5EF4-FFF2-40B4-BE49-F238E27FC236}">
                <a16:creationId xmlns:a16="http://schemas.microsoft.com/office/drawing/2014/main" id="{485901BF-3F45-4616-8E86-A48BD71A6F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28621" y="3246587"/>
            <a:ext cx="266224" cy="332780"/>
          </a:xfrm>
          <a:prstGeom prst="rect">
            <a:avLst/>
          </a:prstGeom>
        </p:spPr>
      </p:pic>
      <p:sp>
        <p:nvSpPr>
          <p:cNvPr id="9" name="Text 5">
            <a:extLst>
              <a:ext uri="{FF2B5EF4-FFF2-40B4-BE49-F238E27FC236}">
                <a16:creationId xmlns:a16="http://schemas.microsoft.com/office/drawing/2014/main" id="{2B4DE9A2-0DB2-491D-9DFF-DD7747BEE926}"/>
              </a:ext>
            </a:extLst>
          </p:cNvPr>
          <p:cNvSpPr/>
          <p:nvPr/>
        </p:nvSpPr>
        <p:spPr>
          <a:xfrm>
            <a:off x="4776667" y="2883028"/>
            <a:ext cx="2995136" cy="168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2000" dirty="0">
                <a:solidFill>
                  <a:srgbClr val="3B3535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lexandria Semi Bold" pitchFamily="34" charset="-120"/>
              </a:rPr>
              <a:t>Интерпретация намерений</a:t>
            </a:r>
            <a:endParaRPr lang="en-US" sz="2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F74A0E92-BB96-4B53-83F5-5C44DCBD3420}"/>
              </a:ext>
            </a:extLst>
          </p:cNvPr>
          <p:cNvSpPr/>
          <p:nvPr/>
        </p:nvSpPr>
        <p:spPr>
          <a:xfrm>
            <a:off x="4776667" y="3437827"/>
            <a:ext cx="7415333" cy="328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2000" dirty="0">
                <a:solidFill>
                  <a:srgbClr val="3B3535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Sora Light" pitchFamily="34" charset="-120"/>
              </a:rPr>
              <a:t>Отсутствие гибкой интерпретации пользовательского намерения, что затрудняет понимание истинной цели обращения.</a:t>
            </a:r>
            <a:endParaRPr lang="en-US" sz="2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pic>
        <p:nvPicPr>
          <p:cNvPr id="11" name="Image 3" descr="preencoded.png">
            <a:extLst>
              <a:ext uri="{FF2B5EF4-FFF2-40B4-BE49-F238E27FC236}">
                <a16:creationId xmlns:a16="http://schemas.microsoft.com/office/drawing/2014/main" id="{F15A2DA5-895E-43D5-A6B0-19B5226772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4346" y="4579423"/>
            <a:ext cx="266224" cy="332780"/>
          </a:xfrm>
          <a:prstGeom prst="rect">
            <a:avLst/>
          </a:prstGeom>
        </p:spPr>
      </p:pic>
      <p:sp>
        <p:nvSpPr>
          <p:cNvPr id="12" name="Text 8">
            <a:extLst>
              <a:ext uri="{FF2B5EF4-FFF2-40B4-BE49-F238E27FC236}">
                <a16:creationId xmlns:a16="http://schemas.microsoft.com/office/drawing/2014/main" id="{D057E4F1-9067-449A-BB07-88B2AE9432D7}"/>
              </a:ext>
            </a:extLst>
          </p:cNvPr>
          <p:cNvSpPr/>
          <p:nvPr/>
        </p:nvSpPr>
        <p:spPr>
          <a:xfrm>
            <a:off x="4776666" y="4585337"/>
            <a:ext cx="3043714" cy="168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2000" dirty="0">
                <a:solidFill>
                  <a:srgbClr val="3B3535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lexandria Semi Bold" pitchFamily="34" charset="-120"/>
              </a:rPr>
              <a:t>Контекстуальная адаптация</a:t>
            </a:r>
            <a:endParaRPr lang="en-US" sz="2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pic>
        <p:nvPicPr>
          <p:cNvPr id="13" name="Image 4" descr="preencoded.png">
            <a:extLst>
              <a:ext uri="{FF2B5EF4-FFF2-40B4-BE49-F238E27FC236}">
                <a16:creationId xmlns:a16="http://schemas.microsoft.com/office/drawing/2014/main" id="{6962D224-03B1-4CC9-9036-B2267C5738E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28621" y="5412260"/>
            <a:ext cx="266224" cy="332780"/>
          </a:xfrm>
          <a:prstGeom prst="rect">
            <a:avLst/>
          </a:prstGeom>
        </p:spPr>
      </p:pic>
      <p:sp>
        <p:nvSpPr>
          <p:cNvPr id="14" name="Text 11">
            <a:extLst>
              <a:ext uri="{FF2B5EF4-FFF2-40B4-BE49-F238E27FC236}">
                <a16:creationId xmlns:a16="http://schemas.microsoft.com/office/drawing/2014/main" id="{48F0E3FE-04C6-4D38-8341-6A3FC7779E9C}"/>
              </a:ext>
            </a:extLst>
          </p:cNvPr>
          <p:cNvSpPr/>
          <p:nvPr/>
        </p:nvSpPr>
        <p:spPr>
          <a:xfrm>
            <a:off x="4720111" y="5388983"/>
            <a:ext cx="2524125" cy="168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2000" dirty="0">
                <a:solidFill>
                  <a:srgbClr val="3B3535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lexandria Semi Bold" pitchFamily="34" charset="-120"/>
              </a:rPr>
              <a:t>Сложность интеграции</a:t>
            </a:r>
            <a:endParaRPr lang="en-US" sz="2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A3A35E1F-B8CB-4ABB-97E5-9D08ED5E7CE4}"/>
              </a:ext>
            </a:extLst>
          </p:cNvPr>
          <p:cNvSpPr/>
          <p:nvPr/>
        </p:nvSpPr>
        <p:spPr>
          <a:xfrm>
            <a:off x="4720110" y="5767483"/>
            <a:ext cx="7415333" cy="328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2000" dirty="0">
                <a:solidFill>
                  <a:srgbClr val="3B3535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Sora Light" pitchFamily="34" charset="-120"/>
              </a:rPr>
              <a:t>Трудности при внедрении в существующие CRM и веб-приложения, что ограничивает функциональность.</a:t>
            </a:r>
            <a:endParaRPr lang="en-US" sz="2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22E6A86B-5ADB-44A6-ADF3-BA4654241275}"/>
              </a:ext>
            </a:extLst>
          </p:cNvPr>
          <p:cNvSpPr/>
          <p:nvPr/>
        </p:nvSpPr>
        <p:spPr>
          <a:xfrm>
            <a:off x="389671" y="2325053"/>
            <a:ext cx="3344931" cy="45683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2000" dirty="0">
                <a:solidFill>
                  <a:srgbClr val="3B3535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Sora Light" pitchFamily="34" charset="-120"/>
              </a:rPr>
              <a:t>Эти ограничения приводят к снижению уровня удовлетворённости клиентов и росту нагрузки на операторов, что делает необходимым поиск более совершенных решений для автоматизации поддержки.</a:t>
            </a:r>
            <a:endParaRPr lang="en-US" sz="2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54968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>
            <a:extLst>
              <a:ext uri="{FF2B5EF4-FFF2-40B4-BE49-F238E27FC236}">
                <a16:creationId xmlns:a16="http://schemas.microsoft.com/office/drawing/2014/main" id="{8C6F2613-63BC-42BC-A2FB-F1D24E2B0F74}"/>
              </a:ext>
            </a:extLst>
          </p:cNvPr>
          <p:cNvSpPr/>
          <p:nvPr/>
        </p:nvSpPr>
        <p:spPr>
          <a:xfrm>
            <a:off x="665927" y="103913"/>
            <a:ext cx="5993130" cy="6635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200"/>
              </a:lnSpc>
              <a:buNone/>
            </a:pPr>
            <a:r>
              <a:rPr lang="en-US" sz="4000" dirty="0">
                <a:solidFill>
                  <a:srgbClr val="1F1E1E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lexandria Semi Bold" pitchFamily="34" charset="-120"/>
              </a:rPr>
              <a:t>Задачи</a:t>
            </a:r>
            <a:r>
              <a:rPr lang="en-US" sz="4150" dirty="0">
                <a:solidFill>
                  <a:srgbClr val="1F1E1E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lexandria Semi Bold" pitchFamily="34" charset="-120"/>
              </a:rPr>
              <a:t> и цели проекта</a:t>
            </a:r>
            <a:endParaRPr lang="en-US" sz="415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pic>
        <p:nvPicPr>
          <p:cNvPr id="5" name="Image 0" descr="preencoded.png">
            <a:extLst>
              <a:ext uri="{FF2B5EF4-FFF2-40B4-BE49-F238E27FC236}">
                <a16:creationId xmlns:a16="http://schemas.microsoft.com/office/drawing/2014/main" id="{DE710D40-8922-49AC-9C73-1B484AF6A7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045" y="1360691"/>
            <a:ext cx="845495" cy="1014574"/>
          </a:xfrm>
          <a:prstGeom prst="rect">
            <a:avLst/>
          </a:prstGeom>
        </p:spPr>
      </p:pic>
      <p:sp>
        <p:nvSpPr>
          <p:cNvPr id="6" name="Text 1">
            <a:extLst>
              <a:ext uri="{FF2B5EF4-FFF2-40B4-BE49-F238E27FC236}">
                <a16:creationId xmlns:a16="http://schemas.microsoft.com/office/drawing/2014/main" id="{8D72F678-E323-4F33-9411-240B41DD42F5}"/>
              </a:ext>
            </a:extLst>
          </p:cNvPr>
          <p:cNvSpPr/>
          <p:nvPr/>
        </p:nvSpPr>
        <p:spPr>
          <a:xfrm>
            <a:off x="1919358" y="1267226"/>
            <a:ext cx="3318034" cy="331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00" dirty="0">
                <a:solidFill>
                  <a:srgbClr val="3B3535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lexandria Semi Bold" pitchFamily="34" charset="-120"/>
              </a:rPr>
              <a:t>Определение намерений</a:t>
            </a:r>
            <a:endParaRPr lang="en-US" sz="2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7" name="Text 2">
            <a:extLst>
              <a:ext uri="{FF2B5EF4-FFF2-40B4-BE49-F238E27FC236}">
                <a16:creationId xmlns:a16="http://schemas.microsoft.com/office/drawing/2014/main" id="{B1D6CDD6-0B07-4DD4-A7F3-7C642DE9E6F8}"/>
              </a:ext>
            </a:extLst>
          </p:cNvPr>
          <p:cNvSpPr/>
          <p:nvPr/>
        </p:nvSpPr>
        <p:spPr>
          <a:xfrm>
            <a:off x="1919358" y="1754893"/>
            <a:ext cx="5457525" cy="7469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3B3535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Sora Light" pitchFamily="34" charset="-120"/>
              </a:rPr>
              <a:t>Точное распознавание интентов (намерений) пользователя для </a:t>
            </a:r>
            <a:r>
              <a:rPr lang="en-US" sz="2000" dirty="0" err="1">
                <a:solidFill>
                  <a:srgbClr val="3B3535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Sora Light" pitchFamily="34" charset="-120"/>
              </a:rPr>
              <a:t>правильного</a:t>
            </a:r>
            <a:r>
              <a:rPr lang="en-US" sz="2000" dirty="0">
                <a:solidFill>
                  <a:srgbClr val="3B3535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Sora Light" pitchFamily="34" charset="-120"/>
              </a:rPr>
              <a:t> </a:t>
            </a:r>
          </a:p>
          <a:p>
            <a:pPr marL="0" indent="0" algn="l">
              <a:lnSpc>
                <a:spcPts val="2500"/>
              </a:lnSpc>
              <a:buNone/>
            </a:pPr>
            <a:r>
              <a:rPr lang="ru-RU" sz="2000" dirty="0">
                <a:solidFill>
                  <a:srgbClr val="3B3535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Sora Light" pitchFamily="34" charset="-120"/>
              </a:rPr>
              <a:t>н</a:t>
            </a:r>
            <a:r>
              <a:rPr lang="en-US" sz="2000" dirty="0" err="1">
                <a:solidFill>
                  <a:srgbClr val="3B3535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Sora Light" pitchFamily="34" charset="-120"/>
              </a:rPr>
              <a:t>аправления</a:t>
            </a:r>
            <a:r>
              <a:rPr lang="en-US" sz="2000" dirty="0">
                <a:solidFill>
                  <a:srgbClr val="3B3535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Sora Light" pitchFamily="34" charset="-120"/>
              </a:rPr>
              <a:t> диалога.</a:t>
            </a:r>
            <a:endParaRPr lang="en-US" sz="2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pic>
        <p:nvPicPr>
          <p:cNvPr id="8" name="Image 1" descr="preencoded.png">
            <a:extLst>
              <a:ext uri="{FF2B5EF4-FFF2-40B4-BE49-F238E27FC236}">
                <a16:creationId xmlns:a16="http://schemas.microsoft.com/office/drawing/2014/main" id="{00227961-2C29-4AEA-8823-585BF07F7E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045" y="2711286"/>
            <a:ext cx="845495" cy="1014574"/>
          </a:xfrm>
          <a:prstGeom prst="rect">
            <a:avLst/>
          </a:prstGeom>
        </p:spPr>
      </p:pic>
      <p:sp>
        <p:nvSpPr>
          <p:cNvPr id="9" name="Text 3">
            <a:extLst>
              <a:ext uri="{FF2B5EF4-FFF2-40B4-BE49-F238E27FC236}">
                <a16:creationId xmlns:a16="http://schemas.microsoft.com/office/drawing/2014/main" id="{54B35132-EB5B-4DCF-B53D-CF1203140DFA}"/>
              </a:ext>
            </a:extLst>
          </p:cNvPr>
          <p:cNvSpPr/>
          <p:nvPr/>
        </p:nvSpPr>
        <p:spPr>
          <a:xfrm>
            <a:off x="1967161" y="2797048"/>
            <a:ext cx="3163848" cy="331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00" dirty="0">
                <a:solidFill>
                  <a:srgbClr val="3B3535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lexandria Semi Bold" pitchFamily="34" charset="-120"/>
              </a:rPr>
              <a:t>Эмоциональный анализ</a:t>
            </a:r>
            <a:endParaRPr lang="en-US" sz="2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0" name="Text 4">
            <a:extLst>
              <a:ext uri="{FF2B5EF4-FFF2-40B4-BE49-F238E27FC236}">
                <a16:creationId xmlns:a16="http://schemas.microsoft.com/office/drawing/2014/main" id="{ACCA1042-F658-4C2B-B5E0-19A28EE948DC}"/>
              </a:ext>
            </a:extLst>
          </p:cNvPr>
          <p:cNvSpPr/>
          <p:nvPr/>
        </p:nvSpPr>
        <p:spPr>
          <a:xfrm>
            <a:off x="1967161" y="3249724"/>
            <a:ext cx="11907441" cy="3226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3B3535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Sora Light" pitchFamily="34" charset="-120"/>
              </a:rPr>
              <a:t>Распознавание эмоционального состояния на основе текста сообщений для </a:t>
            </a:r>
            <a:r>
              <a:rPr lang="en-US" sz="2000" dirty="0" err="1">
                <a:solidFill>
                  <a:srgbClr val="3B3535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Sora Light" pitchFamily="34" charset="-120"/>
              </a:rPr>
              <a:t>адаптации</a:t>
            </a:r>
            <a:r>
              <a:rPr lang="en-US" sz="2000" dirty="0">
                <a:solidFill>
                  <a:srgbClr val="3B3535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Sora Light" pitchFamily="34" charset="-120"/>
              </a:rPr>
              <a:t> </a:t>
            </a:r>
            <a:endParaRPr lang="ru-RU" sz="2000" dirty="0">
              <a:solidFill>
                <a:srgbClr val="3B3535"/>
              </a:solidFill>
              <a:latin typeface="Source Sans Pro" panose="020B0503030403020204" pitchFamily="34" charset="0"/>
              <a:ea typeface="Source Sans Pro" panose="020B0503030403020204" pitchFamily="34" charset="0"/>
              <a:cs typeface="Sora Light" pitchFamily="34" charset="-120"/>
            </a:endParaRPr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 err="1">
                <a:solidFill>
                  <a:srgbClr val="3B3535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Sora Light" pitchFamily="34" charset="-120"/>
              </a:rPr>
              <a:t>тона</a:t>
            </a:r>
            <a:r>
              <a:rPr lang="en-US" sz="2000" dirty="0">
                <a:solidFill>
                  <a:srgbClr val="3B3535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Sora Light" pitchFamily="34" charset="-120"/>
              </a:rPr>
              <a:t> ответа.</a:t>
            </a:r>
            <a:endParaRPr lang="en-US" sz="2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pic>
        <p:nvPicPr>
          <p:cNvPr id="11" name="Image 2" descr="preencoded.png">
            <a:extLst>
              <a:ext uri="{FF2B5EF4-FFF2-40B4-BE49-F238E27FC236}">
                <a16:creationId xmlns:a16="http://schemas.microsoft.com/office/drawing/2014/main" id="{C764F3A1-089F-435B-A5AB-351133938F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045" y="4002755"/>
            <a:ext cx="845495" cy="1014574"/>
          </a:xfrm>
          <a:prstGeom prst="rect">
            <a:avLst/>
          </a:prstGeom>
        </p:spPr>
      </p:pic>
      <p:sp>
        <p:nvSpPr>
          <p:cNvPr id="12" name="Text 5">
            <a:extLst>
              <a:ext uri="{FF2B5EF4-FFF2-40B4-BE49-F238E27FC236}">
                <a16:creationId xmlns:a16="http://schemas.microsoft.com/office/drawing/2014/main" id="{0B150AB9-E673-4E22-B978-9FD314767ADC}"/>
              </a:ext>
            </a:extLst>
          </p:cNvPr>
          <p:cNvSpPr/>
          <p:nvPr/>
        </p:nvSpPr>
        <p:spPr>
          <a:xfrm>
            <a:off x="1967161" y="4161862"/>
            <a:ext cx="3390662" cy="331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00" dirty="0">
                <a:solidFill>
                  <a:srgbClr val="3B3535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lexandria Semi Bold" pitchFamily="34" charset="-120"/>
              </a:rPr>
              <a:t>Генерация рекомендаций</a:t>
            </a:r>
            <a:endParaRPr lang="en-US" sz="2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3" name="Text 6">
            <a:extLst>
              <a:ext uri="{FF2B5EF4-FFF2-40B4-BE49-F238E27FC236}">
                <a16:creationId xmlns:a16="http://schemas.microsoft.com/office/drawing/2014/main" id="{BD999A15-D6A7-4E04-BAF1-6B6FA577CE88}"/>
              </a:ext>
            </a:extLst>
          </p:cNvPr>
          <p:cNvSpPr/>
          <p:nvPr/>
        </p:nvSpPr>
        <p:spPr>
          <a:xfrm>
            <a:off x="1919358" y="4621325"/>
            <a:ext cx="11907441" cy="3226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3B3535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Sora Light" pitchFamily="34" charset="-120"/>
              </a:rPr>
              <a:t>Формирование контекстуальных рекомендаций для оператора по дальнейшим действиям.</a:t>
            </a:r>
            <a:endParaRPr lang="en-US" sz="2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pic>
        <p:nvPicPr>
          <p:cNvPr id="14" name="Image 3" descr="preencoded.png">
            <a:extLst>
              <a:ext uri="{FF2B5EF4-FFF2-40B4-BE49-F238E27FC236}">
                <a16:creationId xmlns:a16="http://schemas.microsoft.com/office/drawing/2014/main" id="{CD9C7BEE-4FAD-4B77-A74E-B0D0F532343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6046" y="5294224"/>
            <a:ext cx="845495" cy="1014574"/>
          </a:xfrm>
          <a:prstGeom prst="rect">
            <a:avLst/>
          </a:prstGeom>
        </p:spPr>
      </p:pic>
      <p:sp>
        <p:nvSpPr>
          <p:cNvPr id="18" name="Text 9">
            <a:extLst>
              <a:ext uri="{FF2B5EF4-FFF2-40B4-BE49-F238E27FC236}">
                <a16:creationId xmlns:a16="http://schemas.microsoft.com/office/drawing/2014/main" id="{2233A1CC-4CE5-432E-8789-91DFFC0D399C}"/>
              </a:ext>
            </a:extLst>
          </p:cNvPr>
          <p:cNvSpPr/>
          <p:nvPr/>
        </p:nvSpPr>
        <p:spPr>
          <a:xfrm>
            <a:off x="1967162" y="5533463"/>
            <a:ext cx="3222427" cy="331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00" dirty="0">
                <a:solidFill>
                  <a:srgbClr val="3B3535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lexandria Semi Bold" pitchFamily="34" charset="-120"/>
              </a:rPr>
              <a:t>Интеграция с системами</a:t>
            </a:r>
            <a:endParaRPr lang="en-US" sz="2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9" name="Text 10">
            <a:extLst>
              <a:ext uri="{FF2B5EF4-FFF2-40B4-BE49-F238E27FC236}">
                <a16:creationId xmlns:a16="http://schemas.microsoft.com/office/drawing/2014/main" id="{349E6E8F-5C10-4611-856E-E2367C4EE118}"/>
              </a:ext>
            </a:extLst>
          </p:cNvPr>
          <p:cNvSpPr/>
          <p:nvPr/>
        </p:nvSpPr>
        <p:spPr>
          <a:xfrm>
            <a:off x="1967162" y="5986139"/>
            <a:ext cx="11907441" cy="3226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3B3535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Sora Light" pitchFamily="34" charset="-120"/>
              </a:rPr>
              <a:t>Полноценное встраивание в веб-приложение и внешние сервисы компании.</a:t>
            </a:r>
            <a:endParaRPr lang="en-US" sz="2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08275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0">
            <a:extLst>
              <a:ext uri="{FF2B5EF4-FFF2-40B4-BE49-F238E27FC236}">
                <a16:creationId xmlns:a16="http://schemas.microsoft.com/office/drawing/2014/main" id="{131FEFA2-BED6-4270-B7C1-8B0C19079463}"/>
              </a:ext>
            </a:extLst>
          </p:cNvPr>
          <p:cNvSpPr/>
          <p:nvPr/>
        </p:nvSpPr>
        <p:spPr>
          <a:xfrm>
            <a:off x="5434967" y="70961"/>
            <a:ext cx="6514148" cy="6378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000"/>
              </a:lnSpc>
              <a:buNone/>
            </a:pPr>
            <a:r>
              <a:rPr lang="en-US" sz="4000" dirty="0">
                <a:solidFill>
                  <a:srgbClr val="1F1E1E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lexandria Semi Bold" pitchFamily="34" charset="-120"/>
              </a:rPr>
              <a:t>Общая структура системы</a:t>
            </a:r>
            <a:endParaRPr lang="en-US" sz="4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pic>
        <p:nvPicPr>
          <p:cNvPr id="7" name="Image 0" descr="preencoded.png">
            <a:extLst>
              <a:ext uri="{FF2B5EF4-FFF2-40B4-BE49-F238E27FC236}">
                <a16:creationId xmlns:a16="http://schemas.microsoft.com/office/drawing/2014/main" id="{7391E3FB-395A-46B5-B520-4B507FEA83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7507" y="944854"/>
            <a:ext cx="1642467" cy="1133118"/>
          </a:xfrm>
          <a:prstGeom prst="rect">
            <a:avLst/>
          </a:prstGeom>
        </p:spPr>
      </p:pic>
      <p:pic>
        <p:nvPicPr>
          <p:cNvPr id="8" name="Image 1" descr="preencoded.png">
            <a:extLst>
              <a:ext uri="{FF2B5EF4-FFF2-40B4-BE49-F238E27FC236}">
                <a16:creationId xmlns:a16="http://schemas.microsoft.com/office/drawing/2014/main" id="{58F60C79-8805-4433-A368-BBAB806D68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12355" y="1481826"/>
            <a:ext cx="272653" cy="340876"/>
          </a:xfrm>
          <a:prstGeom prst="rect">
            <a:avLst/>
          </a:prstGeom>
        </p:spPr>
      </p:pic>
      <p:sp>
        <p:nvSpPr>
          <p:cNvPr id="9" name="Text 1">
            <a:extLst>
              <a:ext uri="{FF2B5EF4-FFF2-40B4-BE49-F238E27FC236}">
                <a16:creationId xmlns:a16="http://schemas.microsoft.com/office/drawing/2014/main" id="{36957D83-5BBD-45C4-AE20-57669E7A5AD1}"/>
              </a:ext>
            </a:extLst>
          </p:cNvPr>
          <p:cNvSpPr/>
          <p:nvPr/>
        </p:nvSpPr>
        <p:spPr>
          <a:xfrm>
            <a:off x="4563808" y="1138688"/>
            <a:ext cx="2551509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3B3535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lexandria Semi Bold" pitchFamily="34" charset="-120"/>
              </a:rPr>
              <a:t>LLM-модель</a:t>
            </a:r>
            <a:endParaRPr lang="en-US" sz="2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0" name="Text 2">
            <a:extLst>
              <a:ext uri="{FF2B5EF4-FFF2-40B4-BE49-F238E27FC236}">
                <a16:creationId xmlns:a16="http://schemas.microsoft.com/office/drawing/2014/main" id="{EEFBDF63-109F-47EA-930F-FDB90F9AC847}"/>
              </a:ext>
            </a:extLst>
          </p:cNvPr>
          <p:cNvSpPr/>
          <p:nvPr/>
        </p:nvSpPr>
        <p:spPr>
          <a:xfrm>
            <a:off x="4563808" y="1573862"/>
            <a:ext cx="4968121" cy="3102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dirty="0">
                <a:solidFill>
                  <a:srgbClr val="3B3535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Sora Light" pitchFamily="34" charset="-120"/>
              </a:rPr>
              <a:t>Ядро системы на базе GPT/Claude/Open-source LLM</a:t>
            </a:r>
            <a:endParaRPr lang="en-US" sz="2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1" name="Shape 3">
            <a:extLst>
              <a:ext uri="{FF2B5EF4-FFF2-40B4-BE49-F238E27FC236}">
                <a16:creationId xmlns:a16="http://schemas.microsoft.com/office/drawing/2014/main" id="{AED72032-EA64-427C-8C41-F1011590A7DD}"/>
              </a:ext>
            </a:extLst>
          </p:cNvPr>
          <p:cNvSpPr/>
          <p:nvPr/>
        </p:nvSpPr>
        <p:spPr>
          <a:xfrm>
            <a:off x="4563808" y="2094886"/>
            <a:ext cx="6081733" cy="45719"/>
          </a:xfrm>
          <a:prstGeom prst="roundRect">
            <a:avLst>
              <a:gd name="adj" fmla="val 712577"/>
            </a:avLst>
          </a:prstGeom>
          <a:solidFill>
            <a:srgbClr val="BBC2DC"/>
          </a:solidFill>
          <a:ln/>
        </p:spPr>
      </p:sp>
      <p:pic>
        <p:nvPicPr>
          <p:cNvPr id="12" name="Image 2" descr="preencoded.png">
            <a:extLst>
              <a:ext uri="{FF2B5EF4-FFF2-40B4-BE49-F238E27FC236}">
                <a16:creationId xmlns:a16="http://schemas.microsoft.com/office/drawing/2014/main" id="{9A3C0830-0F63-4E63-8D50-30771BCA81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6214" y="2126431"/>
            <a:ext cx="3285053" cy="1133118"/>
          </a:xfrm>
          <a:prstGeom prst="rect">
            <a:avLst/>
          </a:prstGeom>
        </p:spPr>
      </p:pic>
      <p:pic>
        <p:nvPicPr>
          <p:cNvPr id="13" name="Image 3" descr="preencoded.png">
            <a:extLst>
              <a:ext uri="{FF2B5EF4-FFF2-40B4-BE49-F238E27FC236}">
                <a16:creationId xmlns:a16="http://schemas.microsoft.com/office/drawing/2014/main" id="{6F73A49E-F417-4D2E-AA94-6EEF58655C2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12355" y="2522552"/>
            <a:ext cx="272653" cy="340876"/>
          </a:xfrm>
          <a:prstGeom prst="rect">
            <a:avLst/>
          </a:prstGeom>
        </p:spPr>
      </p:pic>
      <p:sp>
        <p:nvSpPr>
          <p:cNvPr id="14" name="Text 4">
            <a:extLst>
              <a:ext uri="{FF2B5EF4-FFF2-40B4-BE49-F238E27FC236}">
                <a16:creationId xmlns:a16="http://schemas.microsoft.com/office/drawing/2014/main" id="{41B52E64-7B09-481B-AB70-D6C290B2F310}"/>
              </a:ext>
            </a:extLst>
          </p:cNvPr>
          <p:cNvSpPr/>
          <p:nvPr/>
        </p:nvSpPr>
        <p:spPr>
          <a:xfrm>
            <a:off x="5385101" y="2320264"/>
            <a:ext cx="3000613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3B3535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lexandria Semi Bold" pitchFamily="34" charset="-120"/>
              </a:rPr>
              <a:t>Модульная архитектура</a:t>
            </a:r>
            <a:endParaRPr lang="en-US" sz="2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5" name="Text 5">
            <a:extLst>
              <a:ext uri="{FF2B5EF4-FFF2-40B4-BE49-F238E27FC236}">
                <a16:creationId xmlns:a16="http://schemas.microsoft.com/office/drawing/2014/main" id="{119C8ACE-8161-4DCC-8E20-64C53C3AD051}"/>
              </a:ext>
            </a:extLst>
          </p:cNvPr>
          <p:cNvSpPr/>
          <p:nvPr/>
        </p:nvSpPr>
        <p:spPr>
          <a:xfrm>
            <a:off x="5385101" y="2755438"/>
            <a:ext cx="4331137" cy="3102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dirty="0">
                <a:solidFill>
                  <a:srgbClr val="3B3535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Sora Light" pitchFamily="34" charset="-120"/>
              </a:rPr>
              <a:t>Специализированные агенты для разных задач</a:t>
            </a:r>
            <a:endParaRPr lang="en-US" sz="2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6" name="Shape 6">
            <a:extLst>
              <a:ext uri="{FF2B5EF4-FFF2-40B4-BE49-F238E27FC236}">
                <a16:creationId xmlns:a16="http://schemas.microsoft.com/office/drawing/2014/main" id="{C0DE3695-C6D1-4D59-89E9-5E5026CF221F}"/>
              </a:ext>
            </a:extLst>
          </p:cNvPr>
          <p:cNvSpPr/>
          <p:nvPr/>
        </p:nvSpPr>
        <p:spPr>
          <a:xfrm>
            <a:off x="5301933" y="3224527"/>
            <a:ext cx="6081733" cy="45719"/>
          </a:xfrm>
          <a:prstGeom prst="roundRect">
            <a:avLst>
              <a:gd name="adj" fmla="val 712577"/>
            </a:avLst>
          </a:prstGeom>
          <a:solidFill>
            <a:srgbClr val="BBC2DC"/>
          </a:solidFill>
          <a:ln/>
        </p:spPr>
      </p:sp>
      <p:pic>
        <p:nvPicPr>
          <p:cNvPr id="17" name="Image 4" descr="preencoded.png">
            <a:extLst>
              <a:ext uri="{FF2B5EF4-FFF2-40B4-BE49-F238E27FC236}">
                <a16:creationId xmlns:a16="http://schemas.microsoft.com/office/drawing/2014/main" id="{E38051E1-FFDB-4D79-8C49-80957A7A528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4921" y="3308007"/>
            <a:ext cx="4927521" cy="1133118"/>
          </a:xfrm>
          <a:prstGeom prst="rect">
            <a:avLst/>
          </a:prstGeom>
        </p:spPr>
      </p:pic>
      <p:pic>
        <p:nvPicPr>
          <p:cNvPr id="18" name="Image 5" descr="preencoded.png">
            <a:extLst>
              <a:ext uri="{FF2B5EF4-FFF2-40B4-BE49-F238E27FC236}">
                <a16:creationId xmlns:a16="http://schemas.microsoft.com/office/drawing/2014/main" id="{1793F8BE-9B0A-43AB-A37B-919C45F8B37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12235" y="3704128"/>
            <a:ext cx="272653" cy="340876"/>
          </a:xfrm>
          <a:prstGeom prst="rect">
            <a:avLst/>
          </a:prstGeom>
        </p:spPr>
      </p:pic>
      <p:sp>
        <p:nvSpPr>
          <p:cNvPr id="19" name="Text 7">
            <a:extLst>
              <a:ext uri="{FF2B5EF4-FFF2-40B4-BE49-F238E27FC236}">
                <a16:creationId xmlns:a16="http://schemas.microsoft.com/office/drawing/2014/main" id="{988C2CA4-2212-4CD3-9E8A-DE2179E4FA69}"/>
              </a:ext>
            </a:extLst>
          </p:cNvPr>
          <p:cNvSpPr/>
          <p:nvPr/>
        </p:nvSpPr>
        <p:spPr>
          <a:xfrm>
            <a:off x="6179560" y="3587867"/>
            <a:ext cx="2864525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3B3535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lexandria Semi Bold" pitchFamily="34" charset="-120"/>
              </a:rPr>
              <a:t>LangChain фреймворк</a:t>
            </a:r>
            <a:endParaRPr lang="en-US" sz="2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0" name="Text 8">
            <a:extLst>
              <a:ext uri="{FF2B5EF4-FFF2-40B4-BE49-F238E27FC236}">
                <a16:creationId xmlns:a16="http://schemas.microsoft.com/office/drawing/2014/main" id="{0A11CA8D-F77F-4C20-B128-49C3A7710C9F}"/>
              </a:ext>
            </a:extLst>
          </p:cNvPr>
          <p:cNvSpPr/>
          <p:nvPr/>
        </p:nvSpPr>
        <p:spPr>
          <a:xfrm>
            <a:off x="6206275" y="3999998"/>
            <a:ext cx="4862751" cy="3102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dirty="0">
                <a:solidFill>
                  <a:srgbClr val="3B3535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Sora Light" pitchFamily="34" charset="-120"/>
              </a:rPr>
              <a:t>Управление взаимодействием между LLM и данными</a:t>
            </a:r>
            <a:endParaRPr lang="en-US" sz="2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1" name="Shape 9">
            <a:extLst>
              <a:ext uri="{FF2B5EF4-FFF2-40B4-BE49-F238E27FC236}">
                <a16:creationId xmlns:a16="http://schemas.microsoft.com/office/drawing/2014/main" id="{9E50D112-91FF-445A-800F-4359279F2FE3}"/>
              </a:ext>
            </a:extLst>
          </p:cNvPr>
          <p:cNvSpPr/>
          <p:nvPr/>
        </p:nvSpPr>
        <p:spPr>
          <a:xfrm flipV="1">
            <a:off x="6411001" y="4360918"/>
            <a:ext cx="3949426" cy="45719"/>
          </a:xfrm>
          <a:prstGeom prst="roundRect">
            <a:avLst>
              <a:gd name="adj" fmla="val 712577"/>
            </a:avLst>
          </a:prstGeom>
          <a:solidFill>
            <a:srgbClr val="BBC2DC"/>
          </a:solidFill>
          <a:ln/>
        </p:spPr>
      </p:sp>
      <p:pic>
        <p:nvPicPr>
          <p:cNvPr id="22" name="Image 6" descr="preencoded.png">
            <a:extLst>
              <a:ext uri="{FF2B5EF4-FFF2-40B4-BE49-F238E27FC236}">
                <a16:creationId xmlns:a16="http://schemas.microsoft.com/office/drawing/2014/main" id="{54914B6E-3AFB-4E4C-825C-ACF6C099A50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63628" y="4489583"/>
            <a:ext cx="6570107" cy="1133118"/>
          </a:xfrm>
          <a:prstGeom prst="rect">
            <a:avLst/>
          </a:prstGeom>
        </p:spPr>
      </p:pic>
      <p:pic>
        <p:nvPicPr>
          <p:cNvPr id="23" name="Image 7" descr="preencoded.png">
            <a:extLst>
              <a:ext uri="{FF2B5EF4-FFF2-40B4-BE49-F238E27FC236}">
                <a16:creationId xmlns:a16="http://schemas.microsoft.com/office/drawing/2014/main" id="{A9D98FBB-E4FC-49BB-827C-B76A6AB1EFF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412235" y="4885704"/>
            <a:ext cx="272653" cy="340876"/>
          </a:xfrm>
          <a:prstGeom prst="rect">
            <a:avLst/>
          </a:prstGeom>
        </p:spPr>
      </p:pic>
      <p:sp>
        <p:nvSpPr>
          <p:cNvPr id="24" name="Text 10">
            <a:extLst>
              <a:ext uri="{FF2B5EF4-FFF2-40B4-BE49-F238E27FC236}">
                <a16:creationId xmlns:a16="http://schemas.microsoft.com/office/drawing/2014/main" id="{F57A74DF-19DC-439A-8F90-3C70F3529DF5}"/>
              </a:ext>
            </a:extLst>
          </p:cNvPr>
          <p:cNvSpPr/>
          <p:nvPr/>
        </p:nvSpPr>
        <p:spPr>
          <a:xfrm>
            <a:off x="7027568" y="4683417"/>
            <a:ext cx="2551509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3B3535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lexandria Semi Bold" pitchFamily="34" charset="-120"/>
              </a:rPr>
              <a:t>Базы данных и API</a:t>
            </a:r>
            <a:endParaRPr lang="en-US" sz="2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5" name="Text 11">
            <a:extLst>
              <a:ext uri="{FF2B5EF4-FFF2-40B4-BE49-F238E27FC236}">
                <a16:creationId xmlns:a16="http://schemas.microsoft.com/office/drawing/2014/main" id="{52097699-B46E-42F5-9DBF-ECC2EF5E8F3F}"/>
              </a:ext>
            </a:extLst>
          </p:cNvPr>
          <p:cNvSpPr/>
          <p:nvPr/>
        </p:nvSpPr>
        <p:spPr>
          <a:xfrm>
            <a:off x="7027568" y="5118590"/>
            <a:ext cx="3483054" cy="3102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dirty="0">
                <a:solidFill>
                  <a:srgbClr val="3B3535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Sora Light" pitchFamily="34" charset="-120"/>
              </a:rPr>
              <a:t>PostgreSQL, Weaviate и OpenAI API</a:t>
            </a:r>
            <a:endParaRPr lang="en-US" sz="2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6" name="Text 12">
            <a:extLst>
              <a:ext uri="{FF2B5EF4-FFF2-40B4-BE49-F238E27FC236}">
                <a16:creationId xmlns:a16="http://schemas.microsoft.com/office/drawing/2014/main" id="{5BFF48A1-9E93-46B5-9DB2-B944E261F2CA}"/>
              </a:ext>
            </a:extLst>
          </p:cNvPr>
          <p:cNvSpPr/>
          <p:nvPr/>
        </p:nvSpPr>
        <p:spPr>
          <a:xfrm>
            <a:off x="263628" y="5982427"/>
            <a:ext cx="11855823" cy="12411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ru-RU" sz="2000" dirty="0">
                <a:solidFill>
                  <a:srgbClr val="3B3535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Sora Light" pitchFamily="34" charset="-120"/>
              </a:rPr>
              <a:t>Проект построен на модульной архитектуре с использованием </a:t>
            </a:r>
            <a:r>
              <a:rPr lang="ru-RU" sz="2000" dirty="0" err="1">
                <a:solidFill>
                  <a:srgbClr val="3B3535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Sora Light" pitchFamily="34" charset="-120"/>
              </a:rPr>
              <a:t>LangChain</a:t>
            </a:r>
            <a:r>
              <a:rPr lang="ru-RU" sz="2000" dirty="0">
                <a:solidFill>
                  <a:srgbClr val="3B3535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Sora Light" pitchFamily="34" charset="-120"/>
              </a:rPr>
              <a:t>, что обеспечивает чёткое разделение функций и эффективное взаимодействие LLM с внешними данными.</a:t>
            </a:r>
            <a:endParaRPr lang="en-US" sz="2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95861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>
            <a:extLst>
              <a:ext uri="{FF2B5EF4-FFF2-40B4-BE49-F238E27FC236}">
                <a16:creationId xmlns:a16="http://schemas.microsoft.com/office/drawing/2014/main" id="{F3DD6333-458B-4929-A94A-15BA327F76DB}"/>
              </a:ext>
            </a:extLst>
          </p:cNvPr>
          <p:cNvSpPr/>
          <p:nvPr/>
        </p:nvSpPr>
        <p:spPr>
          <a:xfrm>
            <a:off x="3242488" y="341942"/>
            <a:ext cx="7928967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000" dirty="0">
                <a:solidFill>
                  <a:srgbClr val="1F1E1E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lexandria Semi Bold" pitchFamily="34" charset="-120"/>
              </a:rPr>
              <a:t>Ключевые LLM-компоненты</a:t>
            </a:r>
            <a:endParaRPr lang="en-US" sz="4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5" name="Shape 1">
            <a:extLst>
              <a:ext uri="{FF2B5EF4-FFF2-40B4-BE49-F238E27FC236}">
                <a16:creationId xmlns:a16="http://schemas.microsoft.com/office/drawing/2014/main" id="{9D522F6B-1948-4C59-9C9E-361EF3CE76CA}"/>
              </a:ext>
            </a:extLst>
          </p:cNvPr>
          <p:cNvSpPr/>
          <p:nvPr/>
        </p:nvSpPr>
        <p:spPr>
          <a:xfrm>
            <a:off x="165348" y="1287579"/>
            <a:ext cx="5651124" cy="2104994"/>
          </a:xfrm>
          <a:prstGeom prst="roundRect">
            <a:avLst>
              <a:gd name="adj" fmla="val 3411"/>
            </a:avLst>
          </a:prstGeom>
          <a:solidFill>
            <a:srgbClr val="D5DCF6"/>
          </a:solidFill>
          <a:ln w="7620">
            <a:solidFill>
              <a:srgbClr val="BBC2DC"/>
            </a:solidFill>
            <a:prstDash val="solid"/>
          </a:ln>
        </p:spPr>
      </p:sp>
      <p:sp>
        <p:nvSpPr>
          <p:cNvPr id="6" name="Text 2">
            <a:extLst>
              <a:ext uri="{FF2B5EF4-FFF2-40B4-BE49-F238E27FC236}">
                <a16:creationId xmlns:a16="http://schemas.microsoft.com/office/drawing/2014/main" id="{A21EEEFB-7484-4451-A689-13EE4F608657}"/>
              </a:ext>
            </a:extLst>
          </p:cNvPr>
          <p:cNvSpPr/>
          <p:nvPr/>
        </p:nvSpPr>
        <p:spPr>
          <a:xfrm>
            <a:off x="606255" y="1540923"/>
            <a:ext cx="2498151" cy="2810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000" dirty="0">
                <a:solidFill>
                  <a:srgbClr val="3B3535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lexandria Semi Bold" pitchFamily="34" charset="-120"/>
              </a:rPr>
              <a:t>Intent Agent</a:t>
            </a:r>
            <a:endParaRPr lang="en-US" sz="2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1F7BB26A-72CE-4DD2-A4DE-5A152B56EBF8}"/>
              </a:ext>
            </a:extLst>
          </p:cNvPr>
          <p:cNvSpPr/>
          <p:nvPr/>
        </p:nvSpPr>
        <p:spPr>
          <a:xfrm>
            <a:off x="373295" y="1938441"/>
            <a:ext cx="5462222" cy="1367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ru-RU" sz="2000" dirty="0">
                <a:solidFill>
                  <a:srgbClr val="3B3535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Sora Light" pitchFamily="34" charset="-120"/>
              </a:rPr>
              <a:t>Определяет </a:t>
            </a:r>
            <a:r>
              <a:rPr lang="en-US" sz="2000" dirty="0" err="1">
                <a:solidFill>
                  <a:srgbClr val="3B3535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Sora Light" pitchFamily="34" charset="-120"/>
              </a:rPr>
              <a:t>намерения</a:t>
            </a:r>
            <a:r>
              <a:rPr lang="en-US" sz="2000" dirty="0">
                <a:solidFill>
                  <a:srgbClr val="3B3535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Sora Light" pitchFamily="34" charset="-120"/>
              </a:rPr>
              <a:t> пользователя по тексту сообщения. Использует LLM </a:t>
            </a:r>
            <a:r>
              <a:rPr lang="en-US" sz="2000" dirty="0" err="1">
                <a:solidFill>
                  <a:srgbClr val="3B3535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Sora Light" pitchFamily="34" charset="-120"/>
              </a:rPr>
              <a:t>для</a:t>
            </a:r>
            <a:r>
              <a:rPr lang="en-US" sz="2000" dirty="0">
                <a:solidFill>
                  <a:srgbClr val="3B3535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Sora Light" pitchFamily="34" charset="-120"/>
              </a:rPr>
              <a:t> </a:t>
            </a:r>
            <a:r>
              <a:rPr lang="ru-RU" sz="2000" dirty="0">
                <a:solidFill>
                  <a:srgbClr val="3B3535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Sora Light" pitchFamily="34" charset="-120"/>
              </a:rPr>
              <a:t>создания </a:t>
            </a:r>
            <a:r>
              <a:rPr lang="ru-RU" sz="2000" dirty="0" err="1">
                <a:solidFill>
                  <a:srgbClr val="3B3535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Sora Light" pitchFamily="34" charset="-120"/>
              </a:rPr>
              <a:t>интентов</a:t>
            </a:r>
            <a:r>
              <a:rPr lang="ru-RU" sz="2000" dirty="0">
                <a:solidFill>
                  <a:srgbClr val="3B3535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Sora Light" pitchFamily="34" charset="-120"/>
              </a:rPr>
              <a:t> и сущностей</a:t>
            </a:r>
            <a:r>
              <a:rPr lang="en-US" sz="2000" dirty="0">
                <a:solidFill>
                  <a:srgbClr val="3B3535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Sora Light" pitchFamily="34" charset="-120"/>
              </a:rPr>
              <a:t>.</a:t>
            </a:r>
            <a:endParaRPr lang="ru-RU" sz="2000" dirty="0">
              <a:solidFill>
                <a:srgbClr val="3B3535"/>
              </a:solidFill>
              <a:latin typeface="Source Sans Pro" panose="020B0503030403020204" pitchFamily="34" charset="0"/>
              <a:ea typeface="Source Sans Pro" panose="020B0503030403020204" pitchFamily="34" charset="0"/>
              <a:cs typeface="Sora Light" pitchFamily="34" charset="-120"/>
            </a:endParaRPr>
          </a:p>
        </p:txBody>
      </p:sp>
      <p:sp>
        <p:nvSpPr>
          <p:cNvPr id="8" name="Shape 4">
            <a:extLst>
              <a:ext uri="{FF2B5EF4-FFF2-40B4-BE49-F238E27FC236}">
                <a16:creationId xmlns:a16="http://schemas.microsoft.com/office/drawing/2014/main" id="{4B7497B6-691F-466A-A722-B39BA3377116}"/>
              </a:ext>
            </a:extLst>
          </p:cNvPr>
          <p:cNvSpPr/>
          <p:nvPr/>
        </p:nvSpPr>
        <p:spPr>
          <a:xfrm>
            <a:off x="6375530" y="1324006"/>
            <a:ext cx="5651124" cy="2104994"/>
          </a:xfrm>
          <a:prstGeom prst="roundRect">
            <a:avLst>
              <a:gd name="adj" fmla="val 3411"/>
            </a:avLst>
          </a:prstGeom>
          <a:solidFill>
            <a:srgbClr val="D5DCF6"/>
          </a:solidFill>
          <a:ln w="7620">
            <a:solidFill>
              <a:srgbClr val="BBC2DC"/>
            </a:solidFill>
            <a:prstDash val="solid"/>
          </a:ln>
        </p:spPr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5C6F81AB-F503-4600-BB9B-36D75F5B3EA8}"/>
              </a:ext>
            </a:extLst>
          </p:cNvPr>
          <p:cNvSpPr/>
          <p:nvPr/>
        </p:nvSpPr>
        <p:spPr>
          <a:xfrm>
            <a:off x="6837399" y="1534524"/>
            <a:ext cx="2498151" cy="2810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000" dirty="0">
                <a:solidFill>
                  <a:srgbClr val="3B3535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lexandria Semi Bold" pitchFamily="34" charset="-120"/>
              </a:rPr>
              <a:t>Emotion Agent</a:t>
            </a:r>
            <a:endParaRPr lang="en-US" sz="2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622D3C62-6498-4992-9DA1-123F25A36880}"/>
              </a:ext>
            </a:extLst>
          </p:cNvPr>
          <p:cNvSpPr/>
          <p:nvPr/>
        </p:nvSpPr>
        <p:spPr>
          <a:xfrm>
            <a:off x="6508026" y="1984224"/>
            <a:ext cx="5518626" cy="1367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ru-RU" sz="2000" dirty="0">
                <a:solidFill>
                  <a:srgbClr val="3B3535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Sora Light" pitchFamily="34" charset="-120"/>
              </a:rPr>
              <a:t>LLM-модуль, выявляющий эмоциональное состояние пользователя (стресс, раздражение, удовлетворённость).</a:t>
            </a:r>
          </a:p>
          <a:p>
            <a:pPr marL="0" indent="0" algn="l">
              <a:lnSpc>
                <a:spcPts val="2700"/>
              </a:lnSpc>
              <a:buNone/>
            </a:pPr>
            <a:r>
              <a:rPr lang="ru-RU" sz="2000" dirty="0">
                <a:solidFill>
                  <a:srgbClr val="3B3535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После чего градирует его от 0 до 100</a:t>
            </a:r>
            <a:endParaRPr lang="en-US" sz="2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1" name="Shape 7">
            <a:extLst>
              <a:ext uri="{FF2B5EF4-FFF2-40B4-BE49-F238E27FC236}">
                <a16:creationId xmlns:a16="http://schemas.microsoft.com/office/drawing/2014/main" id="{F1B78208-0671-45BE-BB23-104C5F5C90C3}"/>
              </a:ext>
            </a:extLst>
          </p:cNvPr>
          <p:cNvSpPr/>
          <p:nvPr/>
        </p:nvSpPr>
        <p:spPr>
          <a:xfrm>
            <a:off x="165346" y="4189928"/>
            <a:ext cx="5651124" cy="2104994"/>
          </a:xfrm>
          <a:prstGeom prst="roundRect">
            <a:avLst>
              <a:gd name="adj" fmla="val 3411"/>
            </a:avLst>
          </a:prstGeom>
          <a:solidFill>
            <a:srgbClr val="D5DCF6"/>
          </a:solidFill>
          <a:ln w="7620">
            <a:solidFill>
              <a:srgbClr val="BBC2DC"/>
            </a:solidFill>
            <a:prstDash val="solid"/>
          </a:ln>
        </p:spPr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DCEEEC7D-4021-4AB4-9618-ED5DEF34A714}"/>
              </a:ext>
            </a:extLst>
          </p:cNvPr>
          <p:cNvSpPr/>
          <p:nvPr/>
        </p:nvSpPr>
        <p:spPr>
          <a:xfrm>
            <a:off x="606255" y="4404565"/>
            <a:ext cx="2498151" cy="2810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000" dirty="0">
                <a:solidFill>
                  <a:srgbClr val="3B3535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lexandria Semi Bold" pitchFamily="34" charset="-120"/>
              </a:rPr>
              <a:t>Knowledge Agent</a:t>
            </a:r>
            <a:endParaRPr lang="en-US" sz="2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0FA7983B-09E9-4717-848A-31F7FFC6D724}"/>
              </a:ext>
            </a:extLst>
          </p:cNvPr>
          <p:cNvSpPr/>
          <p:nvPr/>
        </p:nvSpPr>
        <p:spPr>
          <a:xfrm>
            <a:off x="242351" y="4900255"/>
            <a:ext cx="5426930" cy="1367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ru-RU" sz="2000" dirty="0">
                <a:solidFill>
                  <a:srgbClr val="3B3535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Sora Light" pitchFamily="34" charset="-120"/>
              </a:rPr>
              <a:t>модуль, извлекающий релевантную информацию из базы знаний с помощью LLM и </a:t>
            </a:r>
            <a:r>
              <a:rPr lang="ru-RU" sz="2000" dirty="0" err="1">
                <a:solidFill>
                  <a:srgbClr val="3B3535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Sora Light" pitchFamily="34" charset="-120"/>
              </a:rPr>
              <a:t>LangChain</a:t>
            </a:r>
            <a:r>
              <a:rPr lang="ru-RU" sz="2000" dirty="0">
                <a:solidFill>
                  <a:srgbClr val="3B3535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Sora Light" pitchFamily="34" charset="-120"/>
              </a:rPr>
              <a:t>, включая векторный поиск для точного сопоставления запросов.</a:t>
            </a:r>
            <a:endParaRPr lang="en-US" sz="2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4" name="Shape 10">
            <a:extLst>
              <a:ext uri="{FF2B5EF4-FFF2-40B4-BE49-F238E27FC236}">
                <a16:creationId xmlns:a16="http://schemas.microsoft.com/office/drawing/2014/main" id="{EAD8A2E9-F42B-41C8-9E9E-451B55528B56}"/>
              </a:ext>
            </a:extLst>
          </p:cNvPr>
          <p:cNvSpPr/>
          <p:nvPr/>
        </p:nvSpPr>
        <p:spPr>
          <a:xfrm>
            <a:off x="6375530" y="4189928"/>
            <a:ext cx="5651124" cy="2104994"/>
          </a:xfrm>
          <a:prstGeom prst="roundRect">
            <a:avLst>
              <a:gd name="adj" fmla="val 3411"/>
            </a:avLst>
          </a:prstGeom>
          <a:solidFill>
            <a:srgbClr val="D5DCF6"/>
          </a:solidFill>
          <a:ln w="7620">
            <a:solidFill>
              <a:srgbClr val="BBC2DC"/>
            </a:solidFill>
            <a:prstDash val="solid"/>
          </a:ln>
        </p:spPr>
      </p:sp>
      <p:sp>
        <p:nvSpPr>
          <p:cNvPr id="15" name="Text 11">
            <a:extLst>
              <a:ext uri="{FF2B5EF4-FFF2-40B4-BE49-F238E27FC236}">
                <a16:creationId xmlns:a16="http://schemas.microsoft.com/office/drawing/2014/main" id="{A346668A-00F0-4158-B4B6-2BC9EE8403A9}"/>
              </a:ext>
            </a:extLst>
          </p:cNvPr>
          <p:cNvSpPr/>
          <p:nvPr/>
        </p:nvSpPr>
        <p:spPr>
          <a:xfrm>
            <a:off x="6837399" y="4412896"/>
            <a:ext cx="3161320" cy="2810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000" dirty="0">
                <a:solidFill>
                  <a:srgbClr val="3B3535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lexandria Semi Bold" pitchFamily="34" charset="-120"/>
              </a:rPr>
              <a:t>Action Suggestion Agent</a:t>
            </a:r>
            <a:endParaRPr lang="en-US" sz="2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6" name="Text 12">
            <a:extLst>
              <a:ext uri="{FF2B5EF4-FFF2-40B4-BE49-F238E27FC236}">
                <a16:creationId xmlns:a16="http://schemas.microsoft.com/office/drawing/2014/main" id="{E013ADD6-9674-4772-B132-B5ABAFBD1C17}"/>
              </a:ext>
            </a:extLst>
          </p:cNvPr>
          <p:cNvSpPr/>
          <p:nvPr/>
        </p:nvSpPr>
        <p:spPr>
          <a:xfrm>
            <a:off x="6508026" y="4822257"/>
            <a:ext cx="5657753" cy="14456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ru-RU" sz="2000" dirty="0">
                <a:solidFill>
                  <a:srgbClr val="3B3535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Sora Light" pitchFamily="34" charset="-120"/>
              </a:rPr>
              <a:t>Анализирует данные и подсказывает: как ответить, передать ли клиента человеку, какой скрипт использовать или следующее действие.</a:t>
            </a:r>
            <a:endParaRPr lang="en-US" sz="2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35594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hape 1">
            <a:extLst>
              <a:ext uri="{FF2B5EF4-FFF2-40B4-BE49-F238E27FC236}">
                <a16:creationId xmlns:a16="http://schemas.microsoft.com/office/drawing/2014/main" id="{83427CA6-C303-4F7C-BD99-2BD1E85C495E}"/>
              </a:ext>
            </a:extLst>
          </p:cNvPr>
          <p:cNvSpPr/>
          <p:nvPr/>
        </p:nvSpPr>
        <p:spPr>
          <a:xfrm>
            <a:off x="7269556" y="4655269"/>
            <a:ext cx="4531527" cy="1636489"/>
          </a:xfrm>
          <a:prstGeom prst="roundRect">
            <a:avLst>
              <a:gd name="adj" fmla="val 3411"/>
            </a:avLst>
          </a:prstGeom>
          <a:solidFill>
            <a:srgbClr val="D5DCF6"/>
          </a:solidFill>
          <a:ln w="7620">
            <a:solidFill>
              <a:srgbClr val="BBC2DC"/>
            </a:solidFill>
            <a:prstDash val="solid"/>
          </a:ln>
        </p:spPr>
      </p:sp>
      <p:sp>
        <p:nvSpPr>
          <p:cNvPr id="14" name="Shape 1">
            <a:extLst>
              <a:ext uri="{FF2B5EF4-FFF2-40B4-BE49-F238E27FC236}">
                <a16:creationId xmlns:a16="http://schemas.microsoft.com/office/drawing/2014/main" id="{4CD65CC1-FCB5-4ED8-B472-A78B732178CA}"/>
              </a:ext>
            </a:extLst>
          </p:cNvPr>
          <p:cNvSpPr/>
          <p:nvPr/>
        </p:nvSpPr>
        <p:spPr>
          <a:xfrm>
            <a:off x="435108" y="4563311"/>
            <a:ext cx="4531527" cy="1636489"/>
          </a:xfrm>
          <a:prstGeom prst="roundRect">
            <a:avLst>
              <a:gd name="adj" fmla="val 3411"/>
            </a:avLst>
          </a:prstGeom>
          <a:solidFill>
            <a:srgbClr val="D5DCF6"/>
          </a:solidFill>
          <a:ln w="7620">
            <a:solidFill>
              <a:srgbClr val="BBC2DC"/>
            </a:solidFill>
            <a:prstDash val="solid"/>
          </a:ln>
        </p:spPr>
        <p:txBody>
          <a:bodyPr/>
          <a:lstStyle/>
          <a:p>
            <a:endParaRPr lang="ru-RU" dirty="0"/>
          </a:p>
        </p:txBody>
      </p:sp>
      <p:sp>
        <p:nvSpPr>
          <p:cNvPr id="13" name="Shape 1">
            <a:extLst>
              <a:ext uri="{FF2B5EF4-FFF2-40B4-BE49-F238E27FC236}">
                <a16:creationId xmlns:a16="http://schemas.microsoft.com/office/drawing/2014/main" id="{95865D7B-4B17-4DA0-9997-89C9D350D4BF}"/>
              </a:ext>
            </a:extLst>
          </p:cNvPr>
          <p:cNvSpPr/>
          <p:nvPr/>
        </p:nvSpPr>
        <p:spPr>
          <a:xfrm>
            <a:off x="7225366" y="2436064"/>
            <a:ext cx="4531527" cy="1636489"/>
          </a:xfrm>
          <a:prstGeom prst="roundRect">
            <a:avLst>
              <a:gd name="adj" fmla="val 3411"/>
            </a:avLst>
          </a:prstGeom>
          <a:solidFill>
            <a:srgbClr val="D5DCF6"/>
          </a:solidFill>
          <a:ln w="7620">
            <a:solidFill>
              <a:srgbClr val="BBC2DC"/>
            </a:solidFill>
            <a:prstDash val="solid"/>
          </a:ln>
        </p:spPr>
      </p:sp>
      <p:sp>
        <p:nvSpPr>
          <p:cNvPr id="12" name="Shape 1">
            <a:extLst>
              <a:ext uri="{FF2B5EF4-FFF2-40B4-BE49-F238E27FC236}">
                <a16:creationId xmlns:a16="http://schemas.microsoft.com/office/drawing/2014/main" id="{F080A954-2524-4A2C-84F2-2D316970D0A7}"/>
              </a:ext>
            </a:extLst>
          </p:cNvPr>
          <p:cNvSpPr/>
          <p:nvPr/>
        </p:nvSpPr>
        <p:spPr>
          <a:xfrm>
            <a:off x="435109" y="2436065"/>
            <a:ext cx="4531527" cy="1636489"/>
          </a:xfrm>
          <a:prstGeom prst="roundRect">
            <a:avLst>
              <a:gd name="adj" fmla="val 3411"/>
            </a:avLst>
          </a:prstGeom>
          <a:solidFill>
            <a:srgbClr val="D5DCF6"/>
          </a:solidFill>
          <a:ln w="7620">
            <a:solidFill>
              <a:srgbClr val="BBC2DC"/>
            </a:solidFill>
            <a:prstDash val="solid"/>
          </a:ln>
        </p:spPr>
      </p:sp>
      <p:sp>
        <p:nvSpPr>
          <p:cNvPr id="4" name="Text 0">
            <a:extLst>
              <a:ext uri="{FF2B5EF4-FFF2-40B4-BE49-F238E27FC236}">
                <a16:creationId xmlns:a16="http://schemas.microsoft.com/office/drawing/2014/main" id="{24448E1F-9754-43CB-9D7F-F10FA6313EAC}"/>
              </a:ext>
            </a:extLst>
          </p:cNvPr>
          <p:cNvSpPr/>
          <p:nvPr/>
        </p:nvSpPr>
        <p:spPr>
          <a:xfrm>
            <a:off x="2086596" y="290359"/>
            <a:ext cx="9042321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000" dirty="0">
                <a:solidFill>
                  <a:srgbClr val="1F1E1E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lexandria Semi Bold" pitchFamily="34" charset="-120"/>
              </a:rPr>
              <a:t>Интеграция</a:t>
            </a:r>
            <a:r>
              <a:rPr lang="en-US" sz="4450" dirty="0">
                <a:solidFill>
                  <a:srgbClr val="1F1E1E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lexandria Semi Bold" pitchFamily="34" charset="-120"/>
              </a:rPr>
              <a:t> с веб-приложением</a:t>
            </a:r>
            <a:endParaRPr lang="en-US" sz="445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44B70A6C-DFB2-403C-BD19-E3673D0811DF}"/>
              </a:ext>
            </a:extLst>
          </p:cNvPr>
          <p:cNvSpPr/>
          <p:nvPr/>
        </p:nvSpPr>
        <p:spPr>
          <a:xfrm>
            <a:off x="1114443" y="1498930"/>
            <a:ext cx="3979426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000" dirty="0">
                <a:solidFill>
                  <a:srgbClr val="1F1E1E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lexandria Semi Bold" pitchFamily="34" charset="-120"/>
              </a:rPr>
              <a:t>Интерфейс веб-приложения</a:t>
            </a:r>
            <a:endParaRPr lang="en-US" sz="2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6" name="Text 2">
            <a:extLst>
              <a:ext uri="{FF2B5EF4-FFF2-40B4-BE49-F238E27FC236}">
                <a16:creationId xmlns:a16="http://schemas.microsoft.com/office/drawing/2014/main" id="{5EC69F76-152B-45C5-BAE0-36B4E170E599}"/>
              </a:ext>
            </a:extLst>
          </p:cNvPr>
          <p:cNvSpPr/>
          <p:nvPr/>
        </p:nvSpPr>
        <p:spPr>
          <a:xfrm>
            <a:off x="954024" y="2685715"/>
            <a:ext cx="3861817" cy="1386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ru-RU" sz="2000" dirty="0">
                <a:solidFill>
                  <a:srgbClr val="3B3535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Sora Light" pitchFamily="34" charset="-120"/>
              </a:rPr>
              <a:t>Продуманный интерфейс: просто, удобно, эффективно – каждая деталь на своем месте</a:t>
            </a:r>
            <a:endParaRPr lang="en-US" sz="2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AB8EC457-0E8C-4FD3-B619-D55E10F37120}"/>
              </a:ext>
            </a:extLst>
          </p:cNvPr>
          <p:cNvSpPr/>
          <p:nvPr/>
        </p:nvSpPr>
        <p:spPr>
          <a:xfrm>
            <a:off x="722087" y="4660374"/>
            <a:ext cx="6292572" cy="1733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ru-RU" sz="2000" dirty="0">
                <a:solidFill>
                  <a:srgbClr val="3B3535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Sora Light" pitchFamily="34" charset="-120"/>
              </a:rPr>
              <a:t>Левый блок:</a:t>
            </a:r>
          </a:p>
          <a:p>
            <a:pPr marL="0" indent="0" algn="l">
              <a:lnSpc>
                <a:spcPts val="2700"/>
              </a:lnSpc>
              <a:buNone/>
            </a:pPr>
            <a:r>
              <a:rPr lang="ru-RU" sz="2000" dirty="0">
                <a:solidFill>
                  <a:srgbClr val="3B3535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Sora Light" pitchFamily="34" charset="-120"/>
              </a:rPr>
              <a:t>Показывает структурированные </a:t>
            </a:r>
          </a:p>
          <a:p>
            <a:pPr marL="0" indent="0" algn="l">
              <a:lnSpc>
                <a:spcPts val="2700"/>
              </a:lnSpc>
              <a:buNone/>
            </a:pPr>
            <a:r>
              <a:rPr lang="ru-RU" sz="2000" dirty="0">
                <a:solidFill>
                  <a:srgbClr val="3B3535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Sora Light" pitchFamily="34" charset="-120"/>
              </a:rPr>
              <a:t>данные системы: намерения клиента, </a:t>
            </a:r>
          </a:p>
          <a:p>
            <a:pPr marL="0" indent="0" algn="l">
              <a:lnSpc>
                <a:spcPts val="2700"/>
              </a:lnSpc>
              <a:buNone/>
            </a:pPr>
            <a:r>
              <a:rPr lang="ru-RU" sz="2000" dirty="0">
                <a:solidFill>
                  <a:srgbClr val="3B3535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Sora Light" pitchFamily="34" charset="-120"/>
              </a:rPr>
              <a:t>его эмоции и рекомендации.</a:t>
            </a:r>
            <a:endParaRPr lang="en-US" sz="2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4A5815BD-15A4-47CA-9BDC-9265A3E26E6E}"/>
              </a:ext>
            </a:extLst>
          </p:cNvPr>
          <p:cNvSpPr/>
          <p:nvPr/>
        </p:nvSpPr>
        <p:spPr>
          <a:xfrm>
            <a:off x="7743148" y="1498930"/>
            <a:ext cx="4274582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000" dirty="0">
                <a:solidFill>
                  <a:srgbClr val="1F1E1E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lexandria Semi Bold" pitchFamily="34" charset="-120"/>
              </a:rPr>
              <a:t>Блоки и элементы управления</a:t>
            </a:r>
            <a:endParaRPr lang="en-US" sz="2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42A49EDA-E040-4C11-8FD8-12F78EA9FA41}"/>
              </a:ext>
            </a:extLst>
          </p:cNvPr>
          <p:cNvSpPr/>
          <p:nvPr/>
        </p:nvSpPr>
        <p:spPr>
          <a:xfrm>
            <a:off x="7690691" y="2633150"/>
            <a:ext cx="3547285" cy="1386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000" dirty="0" err="1">
                <a:solidFill>
                  <a:srgbClr val="3B3535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Sora Light" pitchFamily="34" charset="-120"/>
              </a:rPr>
              <a:t>Справа</a:t>
            </a:r>
            <a:r>
              <a:rPr lang="en-US" sz="2000" dirty="0">
                <a:solidFill>
                  <a:srgbClr val="3B3535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Sora Light" pitchFamily="34" charset="-120"/>
              </a:rPr>
              <a:t> </a:t>
            </a:r>
            <a:r>
              <a:rPr lang="en-US" sz="2000" dirty="0" err="1">
                <a:solidFill>
                  <a:srgbClr val="3B3535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Sora Light" pitchFamily="34" charset="-120"/>
              </a:rPr>
              <a:t>расположен</a:t>
            </a:r>
            <a:r>
              <a:rPr lang="ru-RU" sz="2000" dirty="0">
                <a:solidFill>
                  <a:srgbClr val="3B3535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Sora Light" pitchFamily="34" charset="-120"/>
              </a:rPr>
              <a:t>а</a:t>
            </a:r>
            <a:r>
              <a:rPr lang="en-US" sz="2000" dirty="0">
                <a:solidFill>
                  <a:srgbClr val="3B3535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Sora Light" pitchFamily="34" charset="-120"/>
              </a:rPr>
              <a:t> </a:t>
            </a:r>
            <a:r>
              <a:rPr lang="ru-RU" sz="2000" dirty="0">
                <a:solidFill>
                  <a:srgbClr val="3B3535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Sora Light" pitchFamily="34" charset="-120"/>
              </a:rPr>
              <a:t>история диалога с быстрым доступом к прошлым запросам.</a:t>
            </a:r>
            <a:r>
              <a:rPr lang="en-US" sz="2000" dirty="0">
                <a:solidFill>
                  <a:srgbClr val="3B3535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Sora Light" pitchFamily="34" charset="-120"/>
              </a:rPr>
              <a:t>.</a:t>
            </a:r>
            <a:endParaRPr lang="en-US" sz="2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62E951B4-1DA9-4B86-A84E-98BAE592C227}"/>
              </a:ext>
            </a:extLst>
          </p:cNvPr>
          <p:cNvSpPr/>
          <p:nvPr/>
        </p:nvSpPr>
        <p:spPr>
          <a:xfrm>
            <a:off x="7690691" y="4707832"/>
            <a:ext cx="4379495" cy="16386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000" dirty="0">
                <a:solidFill>
                  <a:srgbClr val="3B3535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Sora Light" pitchFamily="34" charset="-120"/>
              </a:rPr>
              <a:t>В нижней части интерфейса находится </a:t>
            </a:r>
            <a:r>
              <a:rPr lang="en-US" sz="2000" dirty="0" err="1">
                <a:solidFill>
                  <a:srgbClr val="3B3535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Sora Light" pitchFamily="34" charset="-120"/>
              </a:rPr>
              <a:t>интерактивная</a:t>
            </a:r>
            <a:r>
              <a:rPr lang="en-US" sz="2000" dirty="0">
                <a:solidFill>
                  <a:srgbClr val="3B3535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Sora Light" pitchFamily="34" charset="-120"/>
              </a:rPr>
              <a:t> </a:t>
            </a:r>
            <a:r>
              <a:rPr lang="ru-RU" sz="2000" dirty="0">
                <a:solidFill>
                  <a:srgbClr val="3B3535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Sora Light" pitchFamily="34" charset="-120"/>
              </a:rPr>
              <a:t>Форма ввода: запрос + телефон/ID (по необходимости).</a:t>
            </a:r>
            <a:endParaRPr lang="en-US" sz="2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1" name="Text 7">
            <a:extLst>
              <a:ext uri="{FF2B5EF4-FFF2-40B4-BE49-F238E27FC236}">
                <a16:creationId xmlns:a16="http://schemas.microsoft.com/office/drawing/2014/main" id="{03456550-01B9-452B-98BD-D1BF0EC65762}"/>
              </a:ext>
            </a:extLst>
          </p:cNvPr>
          <p:cNvSpPr/>
          <p:nvPr/>
        </p:nvSpPr>
        <p:spPr>
          <a:xfrm>
            <a:off x="-460891" y="5400781"/>
            <a:ext cx="13113782" cy="1386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endParaRPr lang="en-US" sz="2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87497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>
            <a:extLst>
              <a:ext uri="{FF2B5EF4-FFF2-40B4-BE49-F238E27FC236}">
                <a16:creationId xmlns:a16="http://schemas.microsoft.com/office/drawing/2014/main" id="{6356E3BD-AFD2-4172-87BB-F3ABC8712AB1}"/>
              </a:ext>
            </a:extLst>
          </p:cNvPr>
          <p:cNvSpPr/>
          <p:nvPr/>
        </p:nvSpPr>
        <p:spPr>
          <a:xfrm>
            <a:off x="991402" y="223464"/>
            <a:ext cx="10722543" cy="5230571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/>
          <a:lstStyle/>
          <a:p>
            <a:pPr marL="0" indent="0" algn="l">
              <a:lnSpc>
                <a:spcPts val="5200"/>
              </a:lnSpc>
              <a:buNone/>
            </a:pPr>
            <a:r>
              <a:rPr lang="ru-RU" sz="4000" dirty="0">
                <a:solidFill>
                  <a:srgbClr val="1F1E1E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lexandria Semi Bold" pitchFamily="34" charset="-120"/>
              </a:rPr>
              <a:t>Используемые технологии</a:t>
            </a:r>
            <a:endParaRPr lang="en-US" sz="415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pic>
        <p:nvPicPr>
          <p:cNvPr id="5" name="Image 0" descr="preencoded.png">
            <a:extLst>
              <a:ext uri="{FF2B5EF4-FFF2-40B4-BE49-F238E27FC236}">
                <a16:creationId xmlns:a16="http://schemas.microsoft.com/office/drawing/2014/main" id="{988DCA51-E7DD-4997-855C-7AADA22F05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744" y="1923795"/>
            <a:ext cx="845495" cy="1014574"/>
          </a:xfrm>
          <a:prstGeom prst="rect">
            <a:avLst/>
          </a:prstGeom>
        </p:spPr>
      </p:pic>
      <p:sp>
        <p:nvSpPr>
          <p:cNvPr id="6" name="Text 1">
            <a:extLst>
              <a:ext uri="{FF2B5EF4-FFF2-40B4-BE49-F238E27FC236}">
                <a16:creationId xmlns:a16="http://schemas.microsoft.com/office/drawing/2014/main" id="{2568114F-31F9-434A-8006-18E5DB370AF5}"/>
              </a:ext>
            </a:extLst>
          </p:cNvPr>
          <p:cNvSpPr/>
          <p:nvPr/>
        </p:nvSpPr>
        <p:spPr>
          <a:xfrm>
            <a:off x="1622684" y="1953091"/>
            <a:ext cx="3318034" cy="331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00" dirty="0" err="1">
                <a:solidFill>
                  <a:srgbClr val="3B3535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Sora Light" pitchFamily="34" charset="-120"/>
              </a:rPr>
              <a:t>LangChain</a:t>
            </a:r>
            <a:endParaRPr lang="en-US" sz="2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7" name="Text 2">
            <a:extLst>
              <a:ext uri="{FF2B5EF4-FFF2-40B4-BE49-F238E27FC236}">
                <a16:creationId xmlns:a16="http://schemas.microsoft.com/office/drawing/2014/main" id="{62724C3F-595C-4F22-8F2E-8DA9482F7DE6}"/>
              </a:ext>
            </a:extLst>
          </p:cNvPr>
          <p:cNvSpPr/>
          <p:nvPr/>
        </p:nvSpPr>
        <p:spPr>
          <a:xfrm>
            <a:off x="1556502" y="2460696"/>
            <a:ext cx="5457525" cy="7469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ru-RU" sz="2000" dirty="0">
                <a:solidFill>
                  <a:srgbClr val="3B3535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Sora Light" pitchFamily="34" charset="-120"/>
              </a:rPr>
              <a:t>Для маршрутизации и обработки LLM-запросов</a:t>
            </a:r>
            <a:endParaRPr lang="en-US" sz="2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pic>
        <p:nvPicPr>
          <p:cNvPr id="8" name="Image 1" descr="preencoded.png">
            <a:extLst>
              <a:ext uri="{FF2B5EF4-FFF2-40B4-BE49-F238E27FC236}">
                <a16:creationId xmlns:a16="http://schemas.microsoft.com/office/drawing/2014/main" id="{1D203FBA-FC3F-4A19-8298-E253980223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4602" y="3547830"/>
            <a:ext cx="845495" cy="1014574"/>
          </a:xfrm>
          <a:prstGeom prst="rect">
            <a:avLst/>
          </a:prstGeom>
        </p:spPr>
      </p:pic>
      <p:sp>
        <p:nvSpPr>
          <p:cNvPr id="9" name="Text 3">
            <a:extLst>
              <a:ext uri="{FF2B5EF4-FFF2-40B4-BE49-F238E27FC236}">
                <a16:creationId xmlns:a16="http://schemas.microsoft.com/office/drawing/2014/main" id="{BEEE0D0E-C472-4920-80F4-27C46E00F70C}"/>
              </a:ext>
            </a:extLst>
          </p:cNvPr>
          <p:cNvSpPr/>
          <p:nvPr/>
        </p:nvSpPr>
        <p:spPr>
          <a:xfrm>
            <a:off x="8905888" y="3389018"/>
            <a:ext cx="3163848" cy="331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00" dirty="0" err="1">
                <a:solidFill>
                  <a:srgbClr val="3B3535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Sora Light" pitchFamily="34" charset="-120"/>
              </a:rPr>
              <a:t>FastAPI</a:t>
            </a:r>
            <a:endParaRPr lang="en-US" sz="2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0" name="Text 4">
            <a:extLst>
              <a:ext uri="{FF2B5EF4-FFF2-40B4-BE49-F238E27FC236}">
                <a16:creationId xmlns:a16="http://schemas.microsoft.com/office/drawing/2014/main" id="{ABF55DD9-1433-4BF1-A271-6B20D113C5AF}"/>
              </a:ext>
            </a:extLst>
          </p:cNvPr>
          <p:cNvSpPr/>
          <p:nvPr/>
        </p:nvSpPr>
        <p:spPr>
          <a:xfrm>
            <a:off x="8905888" y="3890879"/>
            <a:ext cx="11907441" cy="3226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ru-RU" sz="2000" dirty="0">
                <a:solidFill>
                  <a:srgbClr val="3B3535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Sora Light" pitchFamily="34" charset="-120"/>
              </a:rPr>
              <a:t>С</a:t>
            </a:r>
            <a:r>
              <a:rPr lang="en-US" sz="2000" dirty="0" err="1">
                <a:solidFill>
                  <a:srgbClr val="3B3535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Sora Light" pitchFamily="34" charset="-120"/>
              </a:rPr>
              <a:t>ерверная</a:t>
            </a:r>
            <a:r>
              <a:rPr lang="en-US" sz="2000" dirty="0">
                <a:solidFill>
                  <a:srgbClr val="3B3535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Sora Light" pitchFamily="34" charset="-120"/>
              </a:rPr>
              <a:t> </a:t>
            </a:r>
            <a:r>
              <a:rPr lang="en-US" sz="2000" dirty="0" err="1">
                <a:solidFill>
                  <a:srgbClr val="3B3535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Sora Light" pitchFamily="34" charset="-120"/>
              </a:rPr>
              <a:t>часть</a:t>
            </a:r>
            <a:r>
              <a:rPr lang="en-US" sz="2000" dirty="0">
                <a:solidFill>
                  <a:srgbClr val="3B3535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Sora Light" pitchFamily="34" charset="-120"/>
              </a:rPr>
              <a:t> </a:t>
            </a:r>
            <a:endParaRPr lang="ru-RU" sz="2000" dirty="0">
              <a:solidFill>
                <a:srgbClr val="3B3535"/>
              </a:solidFill>
              <a:latin typeface="Source Sans Pro" panose="020B0503030403020204" pitchFamily="34" charset="0"/>
              <a:ea typeface="Source Sans Pro" panose="020B0503030403020204" pitchFamily="34" charset="0"/>
              <a:cs typeface="Sora Light" pitchFamily="34" charset="-120"/>
            </a:endParaRPr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 err="1">
                <a:solidFill>
                  <a:srgbClr val="3B3535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Sora Light" pitchFamily="34" charset="-120"/>
              </a:rPr>
              <a:t>взаимодействия</a:t>
            </a:r>
            <a:endParaRPr lang="en-US" sz="2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pic>
        <p:nvPicPr>
          <p:cNvPr id="11" name="Image 2" descr="preencoded.png">
            <a:extLst>
              <a:ext uri="{FF2B5EF4-FFF2-40B4-BE49-F238E27FC236}">
                <a16:creationId xmlns:a16="http://schemas.microsoft.com/office/drawing/2014/main" id="{1159D1F5-2671-47ED-92A9-579CA235B3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9253" y="3547830"/>
            <a:ext cx="845495" cy="1014574"/>
          </a:xfrm>
          <a:prstGeom prst="rect">
            <a:avLst/>
          </a:prstGeom>
        </p:spPr>
      </p:pic>
      <p:sp>
        <p:nvSpPr>
          <p:cNvPr id="12" name="Text 5">
            <a:extLst>
              <a:ext uri="{FF2B5EF4-FFF2-40B4-BE49-F238E27FC236}">
                <a16:creationId xmlns:a16="http://schemas.microsoft.com/office/drawing/2014/main" id="{B11D5FA2-835E-45C9-8D57-38169D96AE48}"/>
              </a:ext>
            </a:extLst>
          </p:cNvPr>
          <p:cNvSpPr/>
          <p:nvPr/>
        </p:nvSpPr>
        <p:spPr>
          <a:xfrm>
            <a:off x="1570539" y="3536637"/>
            <a:ext cx="3390662" cy="331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00" dirty="0">
                <a:solidFill>
                  <a:srgbClr val="3B3535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Sora Light" pitchFamily="34" charset="-120"/>
              </a:rPr>
              <a:t> PostgreSQL + </a:t>
            </a:r>
            <a:r>
              <a:rPr lang="en-US" sz="2000" dirty="0" err="1">
                <a:solidFill>
                  <a:srgbClr val="3B3535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Sora Light" pitchFamily="34" charset="-120"/>
              </a:rPr>
              <a:t>Sqlalchemy</a:t>
            </a:r>
            <a:endParaRPr lang="en-US" sz="2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3" name="Text 6">
            <a:extLst>
              <a:ext uri="{FF2B5EF4-FFF2-40B4-BE49-F238E27FC236}">
                <a16:creationId xmlns:a16="http://schemas.microsoft.com/office/drawing/2014/main" id="{145B6CB9-F606-44E8-BF53-F210400B4067}"/>
              </a:ext>
            </a:extLst>
          </p:cNvPr>
          <p:cNvSpPr/>
          <p:nvPr/>
        </p:nvSpPr>
        <p:spPr>
          <a:xfrm>
            <a:off x="1530048" y="4112474"/>
            <a:ext cx="11907441" cy="3226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3B3535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Sora Light" pitchFamily="34" charset="-120"/>
              </a:rPr>
              <a:t> </a:t>
            </a:r>
            <a:r>
              <a:rPr lang="ru-RU" sz="2000" dirty="0">
                <a:solidFill>
                  <a:srgbClr val="3B3535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Sora Light" pitchFamily="34" charset="-120"/>
              </a:rPr>
              <a:t>Б</a:t>
            </a:r>
            <a:r>
              <a:rPr lang="en-US" sz="2000" dirty="0" err="1">
                <a:solidFill>
                  <a:srgbClr val="3B3535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Sora Light" pitchFamily="34" charset="-120"/>
              </a:rPr>
              <a:t>аза</a:t>
            </a:r>
            <a:r>
              <a:rPr lang="en-US" sz="2000" dirty="0">
                <a:solidFill>
                  <a:srgbClr val="3B3535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Sora Light" pitchFamily="34" charset="-120"/>
              </a:rPr>
              <a:t> </a:t>
            </a:r>
            <a:r>
              <a:rPr lang="en-US" sz="2000" dirty="0" err="1">
                <a:solidFill>
                  <a:srgbClr val="3B3535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Sora Light" pitchFamily="34" charset="-120"/>
              </a:rPr>
              <a:t>данных</a:t>
            </a:r>
            <a:r>
              <a:rPr lang="en-US" sz="2000" dirty="0">
                <a:solidFill>
                  <a:srgbClr val="3B3535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Sora Light" pitchFamily="34" charset="-120"/>
              </a:rPr>
              <a:t> </a:t>
            </a:r>
            <a:r>
              <a:rPr lang="en-US" sz="2000" dirty="0" err="1">
                <a:solidFill>
                  <a:srgbClr val="3B3535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Sora Light" pitchFamily="34" charset="-120"/>
              </a:rPr>
              <a:t>для</a:t>
            </a:r>
            <a:r>
              <a:rPr lang="en-US" sz="2000" dirty="0">
                <a:solidFill>
                  <a:srgbClr val="3B3535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Sora Light" pitchFamily="34" charset="-120"/>
              </a:rPr>
              <a:t> </a:t>
            </a:r>
            <a:r>
              <a:rPr lang="en-US" sz="2000" dirty="0" err="1">
                <a:solidFill>
                  <a:srgbClr val="3B3535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Sora Light" pitchFamily="34" charset="-120"/>
              </a:rPr>
              <a:t>хранения</a:t>
            </a:r>
            <a:r>
              <a:rPr lang="en-US" sz="2000" dirty="0">
                <a:solidFill>
                  <a:srgbClr val="3B3535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Sora Light" pitchFamily="34" charset="-120"/>
              </a:rPr>
              <a:t> </a:t>
            </a:r>
            <a:r>
              <a:rPr lang="en-US" sz="2000" dirty="0" err="1">
                <a:solidFill>
                  <a:srgbClr val="3B3535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Sora Light" pitchFamily="34" charset="-120"/>
              </a:rPr>
              <a:t>информации</a:t>
            </a:r>
            <a:r>
              <a:rPr lang="en-US" sz="2000" dirty="0">
                <a:solidFill>
                  <a:srgbClr val="3B3535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Sora Light" pitchFamily="34" charset="-120"/>
              </a:rPr>
              <a:t> о </a:t>
            </a:r>
            <a:r>
              <a:rPr lang="en-US" sz="2000" dirty="0" err="1">
                <a:solidFill>
                  <a:srgbClr val="3B3535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Sora Light" pitchFamily="34" charset="-120"/>
              </a:rPr>
              <a:t>клиентах</a:t>
            </a:r>
            <a:endParaRPr lang="en-US" sz="2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pic>
        <p:nvPicPr>
          <p:cNvPr id="14" name="Image 3" descr="preencoded.png">
            <a:extLst>
              <a:ext uri="{FF2B5EF4-FFF2-40B4-BE49-F238E27FC236}">
                <a16:creationId xmlns:a16="http://schemas.microsoft.com/office/drawing/2014/main" id="{EE80B3ED-DCA5-40CF-AEE2-B42982544CA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04602" y="1797447"/>
            <a:ext cx="845495" cy="1014574"/>
          </a:xfrm>
          <a:prstGeom prst="rect">
            <a:avLst/>
          </a:prstGeom>
        </p:spPr>
      </p:pic>
      <p:sp>
        <p:nvSpPr>
          <p:cNvPr id="15" name="Text 9">
            <a:extLst>
              <a:ext uri="{FF2B5EF4-FFF2-40B4-BE49-F238E27FC236}">
                <a16:creationId xmlns:a16="http://schemas.microsoft.com/office/drawing/2014/main" id="{60637B2F-E11F-46C7-958D-79680F1D6E72}"/>
              </a:ext>
            </a:extLst>
          </p:cNvPr>
          <p:cNvSpPr/>
          <p:nvPr/>
        </p:nvSpPr>
        <p:spPr>
          <a:xfrm>
            <a:off x="8905888" y="1938425"/>
            <a:ext cx="3193137" cy="331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00" dirty="0">
                <a:solidFill>
                  <a:srgbClr val="3B3535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Sora Light" pitchFamily="34" charset="-120"/>
              </a:rPr>
              <a:t>HTML/JS</a:t>
            </a:r>
            <a:endParaRPr lang="en-US" sz="2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6" name="Text 10">
            <a:extLst>
              <a:ext uri="{FF2B5EF4-FFF2-40B4-BE49-F238E27FC236}">
                <a16:creationId xmlns:a16="http://schemas.microsoft.com/office/drawing/2014/main" id="{2359B81A-D30B-4C66-B788-DAA3F9F0B640}"/>
              </a:ext>
            </a:extLst>
          </p:cNvPr>
          <p:cNvSpPr/>
          <p:nvPr/>
        </p:nvSpPr>
        <p:spPr>
          <a:xfrm>
            <a:off x="8905888" y="2431082"/>
            <a:ext cx="11907441" cy="3226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ru-RU" sz="2000" dirty="0">
                <a:solidFill>
                  <a:srgbClr val="3B3535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Sora Light" pitchFamily="34" charset="-120"/>
              </a:rPr>
              <a:t>Ф</a:t>
            </a:r>
            <a:r>
              <a:rPr lang="en-US" sz="2000" dirty="0" err="1">
                <a:solidFill>
                  <a:srgbClr val="3B3535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Sora Light" pitchFamily="34" charset="-120"/>
              </a:rPr>
              <a:t>ронтент</a:t>
            </a:r>
            <a:r>
              <a:rPr lang="en-US" sz="2000" dirty="0">
                <a:solidFill>
                  <a:srgbClr val="3B3535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Sora Light" pitchFamily="34" charset="-120"/>
              </a:rPr>
              <a:t> </a:t>
            </a:r>
            <a:r>
              <a:rPr lang="en-US" sz="2000" dirty="0" err="1">
                <a:solidFill>
                  <a:srgbClr val="3B3535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Sora Light" pitchFamily="34" charset="-120"/>
              </a:rPr>
              <a:t>составляющая</a:t>
            </a:r>
            <a:endParaRPr lang="en-US" sz="2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pic>
        <p:nvPicPr>
          <p:cNvPr id="17" name="Image 3" descr="preencoded.png">
            <a:extLst>
              <a:ext uri="{FF2B5EF4-FFF2-40B4-BE49-F238E27FC236}">
                <a16:creationId xmlns:a16="http://schemas.microsoft.com/office/drawing/2014/main" id="{39D54CFF-E8D1-49D3-AA0F-76BBFFA6C16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4011" y="5297518"/>
            <a:ext cx="845495" cy="1014574"/>
          </a:xfrm>
          <a:prstGeom prst="rect">
            <a:avLst/>
          </a:prstGeom>
        </p:spPr>
      </p:pic>
      <p:sp>
        <p:nvSpPr>
          <p:cNvPr id="18" name="Text 9">
            <a:extLst>
              <a:ext uri="{FF2B5EF4-FFF2-40B4-BE49-F238E27FC236}">
                <a16:creationId xmlns:a16="http://schemas.microsoft.com/office/drawing/2014/main" id="{C7902585-E411-4E48-94FD-ED7EE4EAD736}"/>
              </a:ext>
            </a:extLst>
          </p:cNvPr>
          <p:cNvSpPr/>
          <p:nvPr/>
        </p:nvSpPr>
        <p:spPr>
          <a:xfrm>
            <a:off x="1657967" y="5298213"/>
            <a:ext cx="3193137" cy="331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00" dirty="0" err="1">
                <a:solidFill>
                  <a:srgbClr val="3B3535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Sora Light" pitchFamily="34" charset="-120"/>
              </a:rPr>
              <a:t>OpenAI</a:t>
            </a:r>
            <a:r>
              <a:rPr lang="en-US" sz="2000" dirty="0">
                <a:solidFill>
                  <a:srgbClr val="3B3535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Sora Light" pitchFamily="34" charset="-120"/>
              </a:rPr>
              <a:t> API </a:t>
            </a:r>
            <a:endParaRPr lang="en-US" sz="2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9" name="Text 10">
            <a:extLst>
              <a:ext uri="{FF2B5EF4-FFF2-40B4-BE49-F238E27FC236}">
                <a16:creationId xmlns:a16="http://schemas.microsoft.com/office/drawing/2014/main" id="{E7864B0F-AC5C-431E-9E46-5A1AC380C6D8}"/>
              </a:ext>
            </a:extLst>
          </p:cNvPr>
          <p:cNvSpPr/>
          <p:nvPr/>
        </p:nvSpPr>
        <p:spPr>
          <a:xfrm>
            <a:off x="1640226" y="5863302"/>
            <a:ext cx="11907441" cy="3226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 err="1">
                <a:solidFill>
                  <a:srgbClr val="3B3535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Sora Light" pitchFamily="34" charset="-120"/>
              </a:rPr>
              <a:t>взаимодействие</a:t>
            </a:r>
            <a:r>
              <a:rPr lang="en-US" sz="2000" dirty="0">
                <a:solidFill>
                  <a:srgbClr val="3B3535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Sora Light" pitchFamily="34" charset="-120"/>
              </a:rPr>
              <a:t> с LLM и </a:t>
            </a:r>
            <a:r>
              <a:rPr lang="en-US" sz="2000" dirty="0" err="1">
                <a:solidFill>
                  <a:srgbClr val="3B3535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Sora Light" pitchFamily="34" charset="-120"/>
              </a:rPr>
              <a:t>моделью</a:t>
            </a:r>
            <a:r>
              <a:rPr lang="en-US" sz="2000" dirty="0">
                <a:solidFill>
                  <a:srgbClr val="3B3535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Sora Light" pitchFamily="34" charset="-120"/>
              </a:rPr>
              <a:t> embedding</a:t>
            </a:r>
            <a:endParaRPr lang="en-US" sz="2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pic>
        <p:nvPicPr>
          <p:cNvPr id="23" name="Image 1" descr="preencoded.png">
            <a:extLst>
              <a:ext uri="{FF2B5EF4-FFF2-40B4-BE49-F238E27FC236}">
                <a16:creationId xmlns:a16="http://schemas.microsoft.com/office/drawing/2014/main" id="{D191E10C-DEDA-4DCF-9604-93E3AB2E01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32648" y="5298213"/>
            <a:ext cx="845495" cy="1014574"/>
          </a:xfrm>
          <a:prstGeom prst="rect">
            <a:avLst/>
          </a:prstGeom>
        </p:spPr>
      </p:pic>
      <p:sp>
        <p:nvSpPr>
          <p:cNvPr id="24" name="Text 3">
            <a:extLst>
              <a:ext uri="{FF2B5EF4-FFF2-40B4-BE49-F238E27FC236}">
                <a16:creationId xmlns:a16="http://schemas.microsoft.com/office/drawing/2014/main" id="{16C94314-C9B5-44F5-A395-2859D82EC5FE}"/>
              </a:ext>
            </a:extLst>
          </p:cNvPr>
          <p:cNvSpPr/>
          <p:nvPr/>
        </p:nvSpPr>
        <p:spPr>
          <a:xfrm>
            <a:off x="8998863" y="5222676"/>
            <a:ext cx="3163848" cy="331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00" dirty="0" err="1">
                <a:solidFill>
                  <a:srgbClr val="3B3535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Sora Light" pitchFamily="34" charset="-120"/>
              </a:rPr>
              <a:t>Weaviate</a:t>
            </a:r>
            <a:endParaRPr lang="en-US" sz="2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5" name="Text 4">
            <a:extLst>
              <a:ext uri="{FF2B5EF4-FFF2-40B4-BE49-F238E27FC236}">
                <a16:creationId xmlns:a16="http://schemas.microsoft.com/office/drawing/2014/main" id="{038B1C0A-3348-40AB-A8E0-F17DC587CB61}"/>
              </a:ext>
            </a:extLst>
          </p:cNvPr>
          <p:cNvSpPr/>
          <p:nvPr/>
        </p:nvSpPr>
        <p:spPr>
          <a:xfrm>
            <a:off x="8998863" y="5674914"/>
            <a:ext cx="2924677" cy="14473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 err="1">
                <a:solidFill>
                  <a:srgbClr val="3B3535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Sora Light" pitchFamily="34" charset="-120"/>
              </a:rPr>
              <a:t>векторная</a:t>
            </a:r>
            <a:r>
              <a:rPr lang="en-US" sz="2000" dirty="0">
                <a:solidFill>
                  <a:srgbClr val="3B3535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Sora Light" pitchFamily="34" charset="-120"/>
              </a:rPr>
              <a:t> </a:t>
            </a:r>
            <a:r>
              <a:rPr lang="en-US" sz="2000" dirty="0" err="1">
                <a:solidFill>
                  <a:srgbClr val="3B3535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Sora Light" pitchFamily="34" charset="-120"/>
              </a:rPr>
              <a:t>база</a:t>
            </a:r>
            <a:r>
              <a:rPr lang="en-US" sz="2000" dirty="0">
                <a:solidFill>
                  <a:srgbClr val="3B3535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Sora Light" pitchFamily="34" charset="-120"/>
              </a:rPr>
              <a:t> </a:t>
            </a:r>
            <a:r>
              <a:rPr lang="en-US" sz="2000" dirty="0" err="1">
                <a:solidFill>
                  <a:srgbClr val="3B3535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Sora Light" pitchFamily="34" charset="-120"/>
              </a:rPr>
              <a:t>данных</a:t>
            </a:r>
            <a:r>
              <a:rPr lang="en-US" sz="2000" dirty="0">
                <a:solidFill>
                  <a:srgbClr val="3B3535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Sora Light" pitchFamily="34" charset="-120"/>
              </a:rPr>
              <a:t> </a:t>
            </a:r>
            <a:r>
              <a:rPr lang="en-US" sz="2000" dirty="0" err="1">
                <a:solidFill>
                  <a:srgbClr val="3B3535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Sora Light" pitchFamily="34" charset="-120"/>
              </a:rPr>
              <a:t>для</a:t>
            </a:r>
            <a:endParaRPr lang="ru-RU" sz="2000" dirty="0">
              <a:solidFill>
                <a:srgbClr val="3B3535"/>
              </a:solidFill>
              <a:latin typeface="Source Sans Pro" panose="020B0503030403020204" pitchFamily="34" charset="0"/>
              <a:ea typeface="Source Sans Pro" panose="020B0503030403020204" pitchFamily="34" charset="0"/>
              <a:cs typeface="Sora Light" pitchFamily="34" charset="-120"/>
            </a:endParaRPr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3B3535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Sora Light" pitchFamily="34" charset="-120"/>
              </a:rPr>
              <a:t> </a:t>
            </a:r>
            <a:r>
              <a:rPr lang="en-US" sz="2000" dirty="0" err="1">
                <a:solidFill>
                  <a:srgbClr val="3B3535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Sora Light" pitchFamily="34" charset="-120"/>
              </a:rPr>
              <a:t>индексации</a:t>
            </a:r>
            <a:r>
              <a:rPr lang="en-US" sz="2000" dirty="0">
                <a:solidFill>
                  <a:srgbClr val="3B3535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Sora Light" pitchFamily="34" charset="-120"/>
              </a:rPr>
              <a:t> </a:t>
            </a:r>
            <a:r>
              <a:rPr lang="en-US" sz="2000" dirty="0" err="1">
                <a:solidFill>
                  <a:srgbClr val="3B3535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Sora Light" pitchFamily="34" charset="-120"/>
              </a:rPr>
              <a:t>базы</a:t>
            </a:r>
            <a:r>
              <a:rPr lang="en-US" sz="2000" dirty="0">
                <a:solidFill>
                  <a:srgbClr val="3B3535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Sora Light" pitchFamily="34" charset="-120"/>
              </a:rPr>
              <a:t> </a:t>
            </a:r>
            <a:r>
              <a:rPr lang="en-US" sz="2000" dirty="0" err="1">
                <a:solidFill>
                  <a:srgbClr val="3B3535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Sora Light" pitchFamily="34" charset="-120"/>
              </a:rPr>
              <a:t>знаний</a:t>
            </a:r>
            <a:r>
              <a:rPr lang="en-US" sz="2000" dirty="0">
                <a:solidFill>
                  <a:srgbClr val="3B3535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Sora Light" pitchFamily="34" charset="-120"/>
              </a:rPr>
              <a:t>.</a:t>
            </a:r>
            <a:endParaRPr lang="en-US" sz="2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806263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>
            <a:extLst>
              <a:ext uri="{FF2B5EF4-FFF2-40B4-BE49-F238E27FC236}">
                <a16:creationId xmlns:a16="http://schemas.microsoft.com/office/drawing/2014/main" id="{80004EEA-3DBD-49B0-BC21-69E799826BA5}"/>
              </a:ext>
            </a:extLst>
          </p:cNvPr>
          <p:cNvSpPr/>
          <p:nvPr/>
        </p:nvSpPr>
        <p:spPr>
          <a:xfrm>
            <a:off x="456649" y="221945"/>
            <a:ext cx="6314956" cy="5649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00"/>
              </a:lnSpc>
              <a:buNone/>
            </a:pPr>
            <a:r>
              <a:rPr lang="en-US" sz="4000" dirty="0">
                <a:solidFill>
                  <a:srgbClr val="1F1E1E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lexandria Semi Bold" pitchFamily="34" charset="-120"/>
              </a:rPr>
              <a:t>Планы на будущее развитие</a:t>
            </a:r>
            <a:endParaRPr lang="en-US" sz="4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5" name="Shape 1">
            <a:extLst>
              <a:ext uri="{FF2B5EF4-FFF2-40B4-BE49-F238E27FC236}">
                <a16:creationId xmlns:a16="http://schemas.microsoft.com/office/drawing/2014/main" id="{06E22795-8D29-4E3B-B4E7-EAFE3D57DC99}"/>
              </a:ext>
            </a:extLst>
          </p:cNvPr>
          <p:cNvSpPr/>
          <p:nvPr/>
        </p:nvSpPr>
        <p:spPr>
          <a:xfrm>
            <a:off x="456649" y="1130273"/>
            <a:ext cx="1342787" cy="1003459"/>
          </a:xfrm>
          <a:prstGeom prst="roundRect">
            <a:avLst>
              <a:gd name="adj" fmla="val 7188"/>
            </a:avLst>
          </a:prstGeom>
          <a:solidFill>
            <a:srgbClr val="D5DCF6"/>
          </a:solidFill>
          <a:ln w="7620">
            <a:solidFill>
              <a:srgbClr val="BBC2DC"/>
            </a:solidFill>
            <a:prstDash val="solid"/>
          </a:ln>
        </p:spPr>
      </p:sp>
      <p:pic>
        <p:nvPicPr>
          <p:cNvPr id="6" name="Image 0" descr="preencoded.png">
            <a:extLst>
              <a:ext uri="{FF2B5EF4-FFF2-40B4-BE49-F238E27FC236}">
                <a16:creationId xmlns:a16="http://schemas.microsoft.com/office/drawing/2014/main" id="{AB5F1EAC-4BA7-4543-AB32-B8ED6E0181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7313" y="1481031"/>
            <a:ext cx="241459" cy="301823"/>
          </a:xfrm>
          <a:prstGeom prst="rect">
            <a:avLst/>
          </a:prstGeom>
        </p:spPr>
      </p:pic>
      <p:sp>
        <p:nvSpPr>
          <p:cNvPr id="7" name="Text 2">
            <a:extLst>
              <a:ext uri="{FF2B5EF4-FFF2-40B4-BE49-F238E27FC236}">
                <a16:creationId xmlns:a16="http://schemas.microsoft.com/office/drawing/2014/main" id="{B1E8A3A7-101B-441E-9E3B-89113B1FA416}"/>
              </a:ext>
            </a:extLst>
          </p:cNvPr>
          <p:cNvSpPr/>
          <p:nvPr/>
        </p:nvSpPr>
        <p:spPr>
          <a:xfrm>
            <a:off x="1971124" y="1301961"/>
            <a:ext cx="3898106" cy="2824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2000" dirty="0">
                <a:solidFill>
                  <a:srgbClr val="3B3535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lexandria Semi Bold" pitchFamily="34" charset="-120"/>
              </a:rPr>
              <a:t>Интеграция голосовых обращений</a:t>
            </a:r>
            <a:endParaRPr lang="en-US" sz="2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8" name="Text 3">
            <a:extLst>
              <a:ext uri="{FF2B5EF4-FFF2-40B4-BE49-F238E27FC236}">
                <a16:creationId xmlns:a16="http://schemas.microsoft.com/office/drawing/2014/main" id="{FFD56523-FE84-4151-A9C6-3D0944F6ED9F}"/>
              </a:ext>
            </a:extLst>
          </p:cNvPr>
          <p:cNvSpPr/>
          <p:nvPr/>
        </p:nvSpPr>
        <p:spPr>
          <a:xfrm>
            <a:off x="1971124" y="1687366"/>
            <a:ext cx="4648557" cy="274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2000" dirty="0">
                <a:solidFill>
                  <a:srgbClr val="3B3535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Sora Light" pitchFamily="34" charset="-120"/>
              </a:rPr>
              <a:t>Расширение на телефонные каналы в реальном времени</a:t>
            </a:r>
            <a:endParaRPr lang="en-US" sz="2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9" name="Shape 4">
            <a:extLst>
              <a:ext uri="{FF2B5EF4-FFF2-40B4-BE49-F238E27FC236}">
                <a16:creationId xmlns:a16="http://schemas.microsoft.com/office/drawing/2014/main" id="{1DF1DC19-36CD-43F3-AFBF-D239A00EF250}"/>
              </a:ext>
            </a:extLst>
          </p:cNvPr>
          <p:cNvSpPr/>
          <p:nvPr/>
        </p:nvSpPr>
        <p:spPr>
          <a:xfrm>
            <a:off x="1885279" y="2124206"/>
            <a:ext cx="11913870" cy="11430"/>
          </a:xfrm>
          <a:prstGeom prst="roundRect">
            <a:avLst>
              <a:gd name="adj" fmla="val 631009"/>
            </a:avLst>
          </a:prstGeom>
          <a:solidFill>
            <a:srgbClr val="BBC2DC"/>
          </a:solidFill>
          <a:ln/>
        </p:spPr>
      </p:sp>
      <p:sp>
        <p:nvSpPr>
          <p:cNvPr id="10" name="Shape 5">
            <a:extLst>
              <a:ext uri="{FF2B5EF4-FFF2-40B4-BE49-F238E27FC236}">
                <a16:creationId xmlns:a16="http://schemas.microsoft.com/office/drawing/2014/main" id="{9E8BC0BB-6A3D-4794-9214-335CEFB364E3}"/>
              </a:ext>
            </a:extLst>
          </p:cNvPr>
          <p:cNvSpPr/>
          <p:nvPr/>
        </p:nvSpPr>
        <p:spPr>
          <a:xfrm>
            <a:off x="456649" y="2219575"/>
            <a:ext cx="2685574" cy="1003459"/>
          </a:xfrm>
          <a:prstGeom prst="roundRect">
            <a:avLst>
              <a:gd name="adj" fmla="val 7188"/>
            </a:avLst>
          </a:prstGeom>
          <a:solidFill>
            <a:srgbClr val="D5DCF6"/>
          </a:solidFill>
          <a:ln w="7620">
            <a:solidFill>
              <a:srgbClr val="BBC2DC"/>
            </a:solidFill>
            <a:prstDash val="solid"/>
          </a:ln>
        </p:spPr>
      </p:sp>
      <p:pic>
        <p:nvPicPr>
          <p:cNvPr id="11" name="Image 1" descr="preencoded.png">
            <a:extLst>
              <a:ext uri="{FF2B5EF4-FFF2-40B4-BE49-F238E27FC236}">
                <a16:creationId xmlns:a16="http://schemas.microsoft.com/office/drawing/2014/main" id="{0DAD25B9-1AC7-4440-8BA3-C2BDE0A965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8706" y="2570334"/>
            <a:ext cx="241459" cy="301823"/>
          </a:xfrm>
          <a:prstGeom prst="rect">
            <a:avLst/>
          </a:prstGeom>
        </p:spPr>
      </p:pic>
      <p:sp>
        <p:nvSpPr>
          <p:cNvPr id="12" name="Text 6">
            <a:extLst>
              <a:ext uri="{FF2B5EF4-FFF2-40B4-BE49-F238E27FC236}">
                <a16:creationId xmlns:a16="http://schemas.microsoft.com/office/drawing/2014/main" id="{B271C6D3-5C86-4789-87DC-7D51B3392F70}"/>
              </a:ext>
            </a:extLst>
          </p:cNvPr>
          <p:cNvSpPr/>
          <p:nvPr/>
        </p:nvSpPr>
        <p:spPr>
          <a:xfrm>
            <a:off x="3313910" y="2391264"/>
            <a:ext cx="4129326" cy="2824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ru-RU" sz="2000" dirty="0">
                <a:solidFill>
                  <a:srgbClr val="3B3535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lexandria Semi Bold" pitchFamily="34" charset="-120"/>
              </a:rPr>
              <a:t>Режим совместного диалога</a:t>
            </a:r>
          </a:p>
        </p:txBody>
      </p:sp>
      <p:sp>
        <p:nvSpPr>
          <p:cNvPr id="13" name="Text 7">
            <a:extLst>
              <a:ext uri="{FF2B5EF4-FFF2-40B4-BE49-F238E27FC236}">
                <a16:creationId xmlns:a16="http://schemas.microsoft.com/office/drawing/2014/main" id="{D078544C-C296-4E80-9391-96B8D4764DFC}"/>
              </a:ext>
            </a:extLst>
          </p:cNvPr>
          <p:cNvSpPr/>
          <p:nvPr/>
        </p:nvSpPr>
        <p:spPr>
          <a:xfrm>
            <a:off x="3313910" y="2776669"/>
            <a:ext cx="4207312" cy="274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ru-RU" sz="2000" dirty="0">
                <a:solidFill>
                  <a:srgbClr val="3B3535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Sora Light" pitchFamily="34" charset="-120"/>
              </a:rPr>
              <a:t>бот пишет черновик ответа, а оператор быстро корректирует</a:t>
            </a:r>
            <a:endParaRPr lang="en-US" sz="2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4" name="Shape 8">
            <a:extLst>
              <a:ext uri="{FF2B5EF4-FFF2-40B4-BE49-F238E27FC236}">
                <a16:creationId xmlns:a16="http://schemas.microsoft.com/office/drawing/2014/main" id="{62772FEA-A395-4155-884B-3E31CCC3D473}"/>
              </a:ext>
            </a:extLst>
          </p:cNvPr>
          <p:cNvSpPr/>
          <p:nvPr/>
        </p:nvSpPr>
        <p:spPr>
          <a:xfrm>
            <a:off x="3228066" y="3213509"/>
            <a:ext cx="10571083" cy="11430"/>
          </a:xfrm>
          <a:prstGeom prst="roundRect">
            <a:avLst>
              <a:gd name="adj" fmla="val 631009"/>
            </a:avLst>
          </a:prstGeom>
          <a:solidFill>
            <a:srgbClr val="BBC2DC"/>
          </a:solidFill>
          <a:ln/>
        </p:spPr>
      </p:sp>
      <p:sp>
        <p:nvSpPr>
          <p:cNvPr id="15" name="Shape 9">
            <a:extLst>
              <a:ext uri="{FF2B5EF4-FFF2-40B4-BE49-F238E27FC236}">
                <a16:creationId xmlns:a16="http://schemas.microsoft.com/office/drawing/2014/main" id="{D03A620A-9FD9-475B-A801-55FB634459CF}"/>
              </a:ext>
            </a:extLst>
          </p:cNvPr>
          <p:cNvSpPr/>
          <p:nvPr/>
        </p:nvSpPr>
        <p:spPr>
          <a:xfrm>
            <a:off x="456649" y="3308878"/>
            <a:ext cx="4028480" cy="1003459"/>
          </a:xfrm>
          <a:prstGeom prst="roundRect">
            <a:avLst>
              <a:gd name="adj" fmla="val 7188"/>
            </a:avLst>
          </a:prstGeom>
          <a:solidFill>
            <a:srgbClr val="D5DCF6"/>
          </a:solidFill>
          <a:ln w="7620">
            <a:solidFill>
              <a:srgbClr val="BBC2DC"/>
            </a:solidFill>
            <a:prstDash val="solid"/>
          </a:ln>
        </p:spPr>
      </p:sp>
      <p:pic>
        <p:nvPicPr>
          <p:cNvPr id="16" name="Image 2" descr="preencoded.png">
            <a:extLst>
              <a:ext uri="{FF2B5EF4-FFF2-40B4-BE49-F238E27FC236}">
                <a16:creationId xmlns:a16="http://schemas.microsoft.com/office/drawing/2014/main" id="{D70A1BF0-CF88-467F-846C-57CDA7B117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50099" y="3659636"/>
            <a:ext cx="241459" cy="301823"/>
          </a:xfrm>
          <a:prstGeom prst="rect">
            <a:avLst/>
          </a:prstGeom>
        </p:spPr>
      </p:pic>
      <p:sp>
        <p:nvSpPr>
          <p:cNvPr id="17" name="Text 10">
            <a:extLst>
              <a:ext uri="{FF2B5EF4-FFF2-40B4-BE49-F238E27FC236}">
                <a16:creationId xmlns:a16="http://schemas.microsoft.com/office/drawing/2014/main" id="{425B85FA-0005-469B-9EAE-AE42783AF95E}"/>
              </a:ext>
            </a:extLst>
          </p:cNvPr>
          <p:cNvSpPr/>
          <p:nvPr/>
        </p:nvSpPr>
        <p:spPr>
          <a:xfrm>
            <a:off x="4656816" y="3480566"/>
            <a:ext cx="4961334" cy="2824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2000" dirty="0">
                <a:solidFill>
                  <a:srgbClr val="3B3535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lexandria Semi Bold" pitchFamily="34" charset="-120"/>
              </a:rPr>
              <a:t>Подключение мультиканальных источников</a:t>
            </a:r>
            <a:endParaRPr lang="en-US" sz="2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8" name="Text 11">
            <a:extLst>
              <a:ext uri="{FF2B5EF4-FFF2-40B4-BE49-F238E27FC236}">
                <a16:creationId xmlns:a16="http://schemas.microsoft.com/office/drawing/2014/main" id="{CE40446F-76A2-46B4-BDC6-ECCA35360ABB}"/>
              </a:ext>
            </a:extLst>
          </p:cNvPr>
          <p:cNvSpPr/>
          <p:nvPr/>
        </p:nvSpPr>
        <p:spPr>
          <a:xfrm>
            <a:off x="4656816" y="3865972"/>
            <a:ext cx="4961334" cy="274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2000" dirty="0">
                <a:solidFill>
                  <a:srgbClr val="3B3535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Sora Light" pitchFamily="34" charset="-120"/>
              </a:rPr>
              <a:t>Интеграция мессенджеров, соцсетей и email</a:t>
            </a:r>
            <a:endParaRPr lang="en-US" sz="2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9" name="Shape 12">
            <a:extLst>
              <a:ext uri="{FF2B5EF4-FFF2-40B4-BE49-F238E27FC236}">
                <a16:creationId xmlns:a16="http://schemas.microsoft.com/office/drawing/2014/main" id="{D759301B-7A2D-477C-9BD5-5C35930F83E0}"/>
              </a:ext>
            </a:extLst>
          </p:cNvPr>
          <p:cNvSpPr/>
          <p:nvPr/>
        </p:nvSpPr>
        <p:spPr>
          <a:xfrm>
            <a:off x="4570972" y="4302812"/>
            <a:ext cx="9228177" cy="11430"/>
          </a:xfrm>
          <a:prstGeom prst="roundRect">
            <a:avLst>
              <a:gd name="adj" fmla="val 631009"/>
            </a:avLst>
          </a:prstGeom>
          <a:solidFill>
            <a:srgbClr val="BBC2DC"/>
          </a:solidFill>
          <a:ln/>
        </p:spPr>
      </p:sp>
      <p:sp>
        <p:nvSpPr>
          <p:cNvPr id="20" name="Shape 13">
            <a:extLst>
              <a:ext uri="{FF2B5EF4-FFF2-40B4-BE49-F238E27FC236}">
                <a16:creationId xmlns:a16="http://schemas.microsoft.com/office/drawing/2014/main" id="{ACEAB296-C141-4A27-809F-007BDAA66E59}"/>
              </a:ext>
            </a:extLst>
          </p:cNvPr>
          <p:cNvSpPr/>
          <p:nvPr/>
        </p:nvSpPr>
        <p:spPr>
          <a:xfrm>
            <a:off x="456649" y="4398181"/>
            <a:ext cx="5371267" cy="1003459"/>
          </a:xfrm>
          <a:prstGeom prst="roundRect">
            <a:avLst>
              <a:gd name="adj" fmla="val 7188"/>
            </a:avLst>
          </a:prstGeom>
          <a:solidFill>
            <a:srgbClr val="D5DCF6"/>
          </a:solidFill>
          <a:ln w="7620">
            <a:solidFill>
              <a:srgbClr val="BBC2DC"/>
            </a:solidFill>
            <a:prstDash val="solid"/>
          </a:ln>
        </p:spPr>
      </p:sp>
      <p:pic>
        <p:nvPicPr>
          <p:cNvPr id="21" name="Image 3" descr="preencoded.png">
            <a:extLst>
              <a:ext uri="{FF2B5EF4-FFF2-40B4-BE49-F238E27FC236}">
                <a16:creationId xmlns:a16="http://schemas.microsoft.com/office/drawing/2014/main" id="{E7496EA0-A6C0-4F3D-BB93-90AE83A5401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21493" y="4748939"/>
            <a:ext cx="241459" cy="301823"/>
          </a:xfrm>
          <a:prstGeom prst="rect">
            <a:avLst/>
          </a:prstGeom>
        </p:spPr>
      </p:pic>
      <p:sp>
        <p:nvSpPr>
          <p:cNvPr id="22" name="Text 14">
            <a:extLst>
              <a:ext uri="{FF2B5EF4-FFF2-40B4-BE49-F238E27FC236}">
                <a16:creationId xmlns:a16="http://schemas.microsoft.com/office/drawing/2014/main" id="{B449934B-E40C-46C8-BAA6-A110C44FE862}"/>
              </a:ext>
            </a:extLst>
          </p:cNvPr>
          <p:cNvSpPr/>
          <p:nvPr/>
        </p:nvSpPr>
        <p:spPr>
          <a:xfrm>
            <a:off x="5999603" y="4569869"/>
            <a:ext cx="3801308" cy="2824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2000" dirty="0">
                <a:solidFill>
                  <a:srgbClr val="3B3535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lexandria Semi Bold" pitchFamily="34" charset="-120"/>
              </a:rPr>
              <a:t>Автоматизация типовых действий</a:t>
            </a:r>
            <a:endParaRPr lang="en-US" sz="2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3" name="Text 15">
            <a:extLst>
              <a:ext uri="{FF2B5EF4-FFF2-40B4-BE49-F238E27FC236}">
                <a16:creationId xmlns:a16="http://schemas.microsoft.com/office/drawing/2014/main" id="{CA94DF7A-AA2F-4D6C-99B4-9DEB294A9D6A}"/>
              </a:ext>
            </a:extLst>
          </p:cNvPr>
          <p:cNvSpPr/>
          <p:nvPr/>
        </p:nvSpPr>
        <p:spPr>
          <a:xfrm>
            <a:off x="5999603" y="4955275"/>
            <a:ext cx="3855720" cy="274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2000" dirty="0">
                <a:solidFill>
                  <a:srgbClr val="3B3535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Sora Light" pitchFamily="34" charset="-120"/>
              </a:rPr>
              <a:t>Самостоятельное выполнение операций ботом</a:t>
            </a:r>
            <a:endParaRPr lang="en-US" sz="2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4" name="Shape 16">
            <a:extLst>
              <a:ext uri="{FF2B5EF4-FFF2-40B4-BE49-F238E27FC236}">
                <a16:creationId xmlns:a16="http://schemas.microsoft.com/office/drawing/2014/main" id="{61F42E32-2B02-4A31-8405-57B1DF2A587E}"/>
              </a:ext>
            </a:extLst>
          </p:cNvPr>
          <p:cNvSpPr/>
          <p:nvPr/>
        </p:nvSpPr>
        <p:spPr>
          <a:xfrm>
            <a:off x="5913759" y="5392115"/>
            <a:ext cx="7885390" cy="11430"/>
          </a:xfrm>
          <a:prstGeom prst="roundRect">
            <a:avLst>
              <a:gd name="adj" fmla="val 631009"/>
            </a:avLst>
          </a:prstGeom>
          <a:solidFill>
            <a:srgbClr val="BBC2DC"/>
          </a:solidFill>
          <a:ln/>
        </p:spPr>
      </p:sp>
      <p:sp>
        <p:nvSpPr>
          <p:cNvPr id="25" name="Shape 17">
            <a:extLst>
              <a:ext uri="{FF2B5EF4-FFF2-40B4-BE49-F238E27FC236}">
                <a16:creationId xmlns:a16="http://schemas.microsoft.com/office/drawing/2014/main" id="{30983DBB-BDE6-42A8-BF7D-B42D985F3143}"/>
              </a:ext>
            </a:extLst>
          </p:cNvPr>
          <p:cNvSpPr/>
          <p:nvPr/>
        </p:nvSpPr>
        <p:spPr>
          <a:xfrm>
            <a:off x="456649" y="5487484"/>
            <a:ext cx="6714173" cy="1003459"/>
          </a:xfrm>
          <a:prstGeom prst="roundRect">
            <a:avLst>
              <a:gd name="adj" fmla="val 7188"/>
            </a:avLst>
          </a:prstGeom>
          <a:solidFill>
            <a:srgbClr val="D5DCF6"/>
          </a:solidFill>
          <a:ln w="7620">
            <a:solidFill>
              <a:srgbClr val="BBC2DC"/>
            </a:solidFill>
            <a:prstDash val="solid"/>
          </a:ln>
        </p:spPr>
      </p:sp>
      <p:pic>
        <p:nvPicPr>
          <p:cNvPr id="26" name="Image 4" descr="preencoded.png">
            <a:extLst>
              <a:ext uri="{FF2B5EF4-FFF2-40B4-BE49-F238E27FC236}">
                <a16:creationId xmlns:a16="http://schemas.microsoft.com/office/drawing/2014/main" id="{C308E9E4-E695-43DB-BBEA-A6C2160D8EF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93005" y="5838242"/>
            <a:ext cx="241459" cy="301823"/>
          </a:xfrm>
          <a:prstGeom prst="rect">
            <a:avLst/>
          </a:prstGeom>
        </p:spPr>
      </p:pic>
      <p:sp>
        <p:nvSpPr>
          <p:cNvPr id="27" name="Text 18">
            <a:extLst>
              <a:ext uri="{FF2B5EF4-FFF2-40B4-BE49-F238E27FC236}">
                <a16:creationId xmlns:a16="http://schemas.microsoft.com/office/drawing/2014/main" id="{16BAA5AA-FFFA-4FA5-A967-7EDF02F4F779}"/>
              </a:ext>
            </a:extLst>
          </p:cNvPr>
          <p:cNvSpPr/>
          <p:nvPr/>
        </p:nvSpPr>
        <p:spPr>
          <a:xfrm>
            <a:off x="7342509" y="5659172"/>
            <a:ext cx="3036689" cy="2824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2000" dirty="0">
                <a:solidFill>
                  <a:srgbClr val="3B3535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lexandria Semi Bold" pitchFamily="34" charset="-120"/>
              </a:rPr>
              <a:t>Мультиязычная поддержка</a:t>
            </a:r>
            <a:endParaRPr lang="en-US" sz="2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8" name="Text 19">
            <a:extLst>
              <a:ext uri="{FF2B5EF4-FFF2-40B4-BE49-F238E27FC236}">
                <a16:creationId xmlns:a16="http://schemas.microsoft.com/office/drawing/2014/main" id="{F328B886-150A-4FEF-A570-61328E66D62D}"/>
              </a:ext>
            </a:extLst>
          </p:cNvPr>
          <p:cNvSpPr/>
          <p:nvPr/>
        </p:nvSpPr>
        <p:spPr>
          <a:xfrm>
            <a:off x="7342509" y="6044577"/>
            <a:ext cx="3784521" cy="274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2000" dirty="0">
                <a:solidFill>
                  <a:srgbClr val="3B3535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Sora Light" pitchFamily="34" charset="-120"/>
              </a:rPr>
              <a:t>Масштабирование на другие регионы и рынки</a:t>
            </a:r>
            <a:endParaRPr lang="en-US" sz="2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8246283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109</TotalTime>
  <Words>518</Words>
  <Application>Microsoft Office PowerPoint</Application>
  <PresentationFormat>Широкоэкранный</PresentationFormat>
  <Paragraphs>79</Paragraphs>
  <Slides>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Source Sans Pro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NK Volodin</dc:creator>
  <cp:lastModifiedBy>NK Volodin</cp:lastModifiedBy>
  <cp:revision>10</cp:revision>
  <dcterms:created xsi:type="dcterms:W3CDTF">2025-04-20T21:21:07Z</dcterms:created>
  <dcterms:modified xsi:type="dcterms:W3CDTF">2025-04-20T23:10:43Z</dcterms:modified>
</cp:coreProperties>
</file>